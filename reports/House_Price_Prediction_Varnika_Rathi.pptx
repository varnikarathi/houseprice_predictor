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" cy="5394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6CB0"/>
                </a:solidFill>
              </a:defRPr>
            </a:pPr>
            <a:r>
              <a:t>CAPSTONE TECHNICAL PRESENTATION &amp; EMPIRICAL BENCHMARK</a:t>
            </a:r>
          </a:p>
          <a:p>
            <a:pPr>
              <a:spcAft>
                <a:spcPts val="1000"/>
              </a:spcAft>
              <a:defRPr sz="2800" b="1">
                <a:solidFill>
                  <a:srgbClr val="1A365D"/>
                </a:solidFill>
              </a:defRPr>
            </a:pPr>
            <a:r>
              <a:t>King County House Price Prediction &amp;</a:t>
            </a:r>
            <a:br/>
            <a:r>
              <a:t>Automated Valuation Model (AVM)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An End-to-End Zero-Leakage Machine Learning Pipeline, Spatial Feature Engineering, FastAPI Microservice &amp; Soft Pastel Proptech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383280"/>
            <a:ext cx="6217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5852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A365D"/>
                </a:solidFill>
              </a:defRPr>
            </a:pPr>
            <a:r>
              <a:t>PROJECT METADATA &amp; CANDIDATE DETAILS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</a:defRPr>
            </a:pPr>
            <a:r>
              <a:t>Candidate Name: Varnika Rathi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</a:defRPr>
            </a:pPr>
            <a:r>
              <a:t>Registration Number: 12318240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</a:defRPr>
            </a:pPr>
            <a:r>
              <a:t>Roll Number: 66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</a:defRPr>
            </a:pPr>
            <a:r>
              <a:t>Official GitHub: https://github.com/varnikarathi/houseprice_predictor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</a:defRPr>
            </a:pPr>
            <a:r>
              <a:t>Dataset Scope: King County, Washington (21,411 Verified Sales)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</a:defRPr>
            </a:pPr>
            <a:r>
              <a:t>Production Stack: Python 3.10+ · Scikit-Learn · FastAPI · MongoDB · Chart.js</a:t>
            </a:r>
          </a:p>
        </p:txBody>
      </p:sp>
      <p:pic>
        <p:nvPicPr>
          <p:cNvPr id="7" name="Picture 6" descr="actual_casapredi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383280"/>
            <a:ext cx="34747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1. Executive Summary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2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365D"/>
                </a:solidFill>
              </a:defRPr>
            </a:pPr>
            <a:r>
              <a:t>Industry Problem &amp; Scope</a:t>
            </a:r>
          </a:p>
          <a:p>
            <a:pPr>
              <a:spcAft>
                <a:spcPts val="800"/>
              </a:spcAft>
              <a:defRPr sz="1050">
                <a:solidFill>
                  <a:srgbClr val="2D3748"/>
                </a:solidFill>
              </a:defRPr>
            </a:pPr>
            <a:r>
              <a:t>• Inefficiencies in Real Estate Valuation: Traditional manual appraisals require weeks, cost hundreds of dollars, and suffer from localized appraisal bias.</a:t>
            </a:r>
          </a:p>
          <a:p>
            <a:pPr>
              <a:spcAft>
                <a:spcPts val="800"/>
              </a:spcAft>
              <a:defRPr sz="1050">
                <a:solidFill>
                  <a:srgbClr val="2D3748"/>
                </a:solidFill>
              </a:defRPr>
            </a:pPr>
            <a:r>
              <a:t>• The AVM Solution: Algorithmic Automated Valuation Models provide instantaneous, objective, data-driven valuations across high-volume metropolitan regions.</a:t>
            </a:r>
          </a:p>
          <a:p>
            <a:pPr>
              <a:spcAft>
                <a:spcPts val="800"/>
              </a:spcAft>
              <a:defRPr sz="1050">
                <a:solidFill>
                  <a:srgbClr val="2D3748"/>
                </a:solidFill>
              </a:defRPr>
            </a:pPr>
            <a:r>
              <a:t>• King County Geographic Focus: Calibrated exclusively on King County, Washington (encompassing Seattle, Bellevue, Redmond, Kirkland, Mercer Island, etc.).</a:t>
            </a:r>
          </a:p>
          <a:p>
            <a:pPr>
              <a:spcAft>
                <a:spcPts val="800"/>
              </a:spcAft>
              <a:defRPr sz="1050">
                <a:solidFill>
                  <a:srgbClr val="2D3748"/>
                </a:solidFill>
              </a:defRPr>
            </a:pPr>
            <a:r>
              <a:t>• Authentic Real Estate Grounding: Strictly enforces genuine regional architectural parameters—purging all synthetic or non-regional constructs.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Key Deliverables &amp; Acceptance Benchmark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103120"/>
          <a:ext cx="48764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401775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Metric / Benchmark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Primary Model Holdout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≥ 0.8000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0.8724 (0.8979 Log)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Test Mean Absolute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≤ $75,000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$67,108.53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Mean Absolute Percentage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≤ 15.00%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12.26%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5-Fold Cross Validation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≥ 0.8000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0.8809 ± 0.0103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Cleaned Data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≥ 98.00%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99.07% (21,411 rows)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Automated Pytest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13 / 13 Passed (100%)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API Inference Latency (p95)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≤ 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D3748"/>
                          </a:solidFill>
                        </a:defRPr>
                      </a:pPr>
                      <a:r>
                        <a:t>14.2 ms (Localhost)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2. King County Dataset Architecture &amp;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3 of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Authentic King County Residential Schema (21,613 Raw Transactions · May 2014 – May 2015)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Properties are strictly organized across five authentic real estate dimensions, completely replacing non-regional synthetic attributes: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2011680" cy="3931920"/>
          </a:xfrm>
          <a:prstGeom prst="roundRect">
            <a:avLst/>
          </a:prstGeom>
          <a:solidFill>
            <a:srgbClr val="E6E6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</a:defRPr>
            </a:pPr>
            <a:r>
              <a:t>1. Area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sqft_living (Interior)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sqft_lot (Parcel)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sqft_above (Above grade)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sqft_basement (Subgrade)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sqft_living15 (Neighbors)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sqft_lot15 (Neighbor lots)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2194560"/>
            <a:ext cx="2011680" cy="3931920"/>
          </a:xfrm>
          <a:prstGeom prst="roundRect">
            <a:avLst/>
          </a:prstGeom>
          <a:solidFill>
            <a:srgbClr val="DDF3E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33172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</a:defRPr>
            </a:pPr>
            <a:r>
              <a:t>2. Layout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bedrooms (1–10)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bathrooms (0.75–8)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floors (1–3.5 stories)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sqft_per_room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bed_to_bath_ratio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has_basement (0/1)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2194560"/>
            <a:ext cx="2011680" cy="39319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233172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</a:defRPr>
            </a:pPr>
            <a:r>
              <a:t>3. Location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zipcode (70 County zones)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lat (47.15° to 47.78°N)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long (-122.5° to -121.3°W)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Haversine to Seattle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Smoothed Target Enc.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Micro-market pricing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2194560"/>
            <a:ext cx="2011680" cy="39319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6" y="233172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</a:defRPr>
            </a:pPr>
            <a:r>
              <a:t>4. Property Age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yr_built (1900–2015)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yr_renovated (0 or yr)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age_at_sale (years)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is_renovated (0/1)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years_since_reno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transaction 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2194560"/>
            <a:ext cx="2011680" cy="3931920"/>
          </a:xfrm>
          <a:prstGeom prst="roundRect">
            <a:avLst/>
          </a:prstGeom>
          <a:solidFill>
            <a:srgbClr val="F8DD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233172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</a:defRPr>
            </a:pPr>
            <a:r>
              <a:t>5. Quality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grade (1–13 King Co.)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condition (1–5 maintenance)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view (0–4 vista score)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waterfront (0/1 lake/sea)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composite amenity</a:t>
            </a:r>
          </a:p>
          <a:p>
            <a:pPr>
              <a:spcAft>
                <a:spcPts val="400"/>
              </a:spcAft>
              <a:defRPr sz="900">
                <a:solidFill>
                  <a:srgbClr val="2D3748"/>
                </a:solidFill>
              </a:defRPr>
            </a:pPr>
            <a:r>
              <a:t>• craftsmanship tier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DATA HYGIENE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3. Data Cleansing, Deduplication &amp; Anomaly Removal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4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754880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365D"/>
                </a:solidFill>
              </a:defRPr>
            </a:pPr>
            <a:r>
              <a:t>Systematic Multi-Stage Cleansing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• Chronological Deduplication: Sorted transactions by date and retained solely the latest recorded transaction per property ID, removing 177 repeat flips.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• Typo Excision (33-Bed Outlier): Parcel ID 2402100895 recorded 33 bedrooms for a 1,620 sq ft residential home—confirmed data entry error for 3 bedrooms; excised.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• Non-Standard Parcel Removal: Dropped 16 records possessing 0 bedrooms or 0 bathrooms (unimproved parcels).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• Residential Domain Constraints: Bound sale price to $50,000 ≤ price ≤ $5,000,000 and living space ≥ 300 sq ft, removing 25 non-residential parcels.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• Clean Dataset Yield: Preserved 21,411 high-fidelity records from 21,613 raw rows (99.07% retention rate).</a:t>
            </a:r>
          </a:p>
        </p:txBody>
      </p:sp>
      <p:pic>
        <p:nvPicPr>
          <p:cNvPr id="10" name="Picture 9" descr="outlier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040"/>
            <a:ext cx="57908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4. Exploratory Data Analysis: Distributions &amp; Log-Transform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5 of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Mitigating Right-Skewness via Logarithmic Target Transformation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t>Raw home prices exhibit severe positive right-skewness (γ₁ = 4.02). Modeling in log-space ln(1 + price) stabilizes error variance across all price tiers:</a:t>
            </a:r>
          </a:p>
        </p:txBody>
      </p:sp>
      <p:pic>
        <p:nvPicPr>
          <p:cNvPr id="9" name="Picture 8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5212080" cy="3931920"/>
          </a:xfrm>
          <a:prstGeom prst="rect">
            <a:avLst/>
          </a:prstGeom>
        </p:spPr>
      </p:pic>
      <p:pic>
        <p:nvPicPr>
          <p:cNvPr id="10" name="Picture 9" descr="log_pric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94560"/>
            <a:ext cx="52120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EDA &amp; SPATIAL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5. Correlation Structure &amp; Spatial Micro-Markets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6 of 15</a:t>
            </a:r>
          </a:p>
        </p:txBody>
      </p:sp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749039"/>
          </a:xfrm>
          <a:prstGeom prst="rect">
            <a:avLst/>
          </a:prstGeom>
        </p:spPr>
      </p:pic>
      <p:pic>
        <p:nvPicPr>
          <p:cNvPr id="9" name="Picture 8" descr="price_by_zipcode_top_bottom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749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349240"/>
            <a:ext cx="10728655" cy="868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A365D"/>
                </a:solidFill>
              </a:defRPr>
            </a:pPr>
            <a:r>
              <a:t>Key EDA Insights: Physical Living Area (r = 0.702) &amp; Construction Grade (r = 0.667) dominate valuation.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Micro-Market Disparity: Median prices vary 5.4x across County zipcodes—from $1,300,000+ in Medina/Mercer Island to $240,000 in Federal Way/Auburn.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6. Feature Engineering &amp; Domain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7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937760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24 Engineered Spatial &amp; Structural Features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Haversine Distance to Seattle CBD (47.6062°N, -122.3321°W):</a:t>
            </a:r>
            <a:br/>
            <a:r>
              <a:t>d = 2R · arcsin(√(sin²(Δφ/2) + cos φ₁ cos φ₂ sin²(Δλ/2)))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Institutional Composite Amenity Score:</a:t>
            </a:r>
            <a:br/>
            <a:r>
              <a:t>AmenityScore = 3.0·waterfront + 1.5(view/4) + 1.0((cond-1)/4) + 2.5((grade-1)/12)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Architectural Density &amp; Space Ratios:</a:t>
            </a:r>
            <a:br/>
            <a:r>
              <a:t>• living_to_lot_ratio = sqft_living / (sqft_lot + 1)</a:t>
            </a:r>
            <a:br/>
            <a:r>
              <a:t>• sqft_per_room = sqft_living / (bedrooms + bathrooms + 1)</a:t>
            </a:r>
            <a:br/>
            <a:r>
              <a:t>• bed_to_bath_ratio = bedrooms / (bathrooms + 0.1)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Effective Structural Vintage:</a:t>
            </a:r>
            <a:br/>
            <a:r>
              <a:t>• age_at_sale = sale_year - yr_built</a:t>
            </a:r>
            <a:br/>
            <a:r>
              <a:t>• years_since_renovation = sale_year - max(yr_built, yr_renovated)</a:t>
            </a:r>
          </a:p>
        </p:txBody>
      </p:sp>
      <p:pic>
        <p:nvPicPr>
          <p:cNvPr id="10" name="Picture 9" descr="price_vs_sqft_li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60801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ML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7. Zero-Leakage Pipeline Architecture &amp; Target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8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1. Data Partitioning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80% Training Set: 17,128 properties used for cross-validation and feature extraction.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20% Holdout Test Set: 4,283 completely untouched properties reserved solely for final metric reporting.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5-Fold Stratified CV: Ensures parameter stability across diverse micro-markets.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Zero Data Leakage: No test information is ever accessed during feature fitting or hyperparameter selection.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E6E6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2. Bayesian Target Encoding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Categorical Zipcode Dilemma: 70 discrete zipcodes cannot be easily treated as one-hot due to high dimensionality.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Out-of-Fold Encoding: Target encoding computed strictly within-fold during CV.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Empirical Bayesian Smoothing:</a:t>
            </a:r>
            <a:br/>
            <a:r>
              <a:t>Ŝᵢ = (nᵢ·ȳᵢ + m·ȳ_global) / (nᵢ + m)</a:t>
            </a:r>
            <a:br/>
            <a:r>
              <a:t>where m = 10 (smoothing prior).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Unknown Zipcode Handling: Automatically falls back to training prior, preventing inference runtime crashes.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13455" cy="4663440"/>
          </a:xfrm>
          <a:prstGeom prst="roundRect">
            <a:avLst/>
          </a:prstGeom>
          <a:solidFill>
            <a:srgbClr val="DDF3E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3. Pipeline Encapsulation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Unified Scikit-Learn Pipeline: Bundles FeatureUnion, ColumnTransformer, Standard Scaler, and Estimator.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Standard Scaler: Mean and variance frozen from training splits; zero distribution leakage.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Log Transformation Layer: Maps price to log1p(y) and inverts via expm1(ŷ) for exact USD valuation.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100% Leakage Unit Tests: Verified via `test_zipcode_target_encoder_no_leakage` pytest.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EMPIRICAL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8. Machine Learning Model Benchmarking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9 of 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463040"/>
                <a:gridCol w="1463040"/>
                <a:gridCol w="1280160"/>
                <a:gridCol w="1493215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R² (USD)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R² (Log)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MAE ($)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RMSE ($)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5-Fold CV R²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Gradient Boosting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0.8883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0.8997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$65,379.60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$120,861.42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12.26%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0.8956 ± 0.0084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Random Forest (Production)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0.8724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0.8979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$67,108.53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$129,170.55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12.26%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0.8809 ± 0.0103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Linear Regression (OLS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0.8685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0.8814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$73,485.98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$131,149.60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13.65%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0.8570 ± 0.0121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Ridge Regression (α = 1.0)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0.8668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0.8812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$73,689.05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$131,990.76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13.66%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0.8565 ± 0.0120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1072865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9. Model Diagnostics, Residuals &amp; Feature Importances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10 of 15</a:t>
            </a:r>
          </a:p>
        </p:txBody>
      </p:sp>
      <p:pic>
        <p:nvPicPr>
          <p:cNvPr id="8" name="Picture 7" descr="predict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749039"/>
          </a:xfrm>
          <a:prstGeom prst="rect">
            <a:avLst/>
          </a:prstGeom>
        </p:spPr>
      </p:pic>
      <p:pic>
        <p:nvPicPr>
          <p:cNvPr id="9" name="Picture 8" descr="feature_importances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749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349240"/>
            <a:ext cx="10728655" cy="8686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A365D"/>
                </a:solidFill>
              </a:defRPr>
            </a:pPr>
            <a:r>
              <a:t>Diagnostic Verification: Tight clustering along identity vector (y = ŷ) across all price tiers up to $2.5M.</a:t>
            </a:r>
          </a:p>
          <a:p>
            <a:pPr>
              <a:defRPr sz="950">
                <a:solidFill>
                  <a:srgbClr val="2D3748"/>
                </a:solidFill>
              </a:defRPr>
            </a:pPr>
            <a:r>
              <a:t>Feature Hierarchy (MDI): sqft_living (37.8%) &gt; grade (25.4%) &gt; haversine_distance_to_seattle (12.1%) &gt; zipcode_target_encoded (8.3%).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10. Production System Architecture &amp; Microservice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11 of 15</a:t>
            </a:r>
          </a:p>
        </p:txBody>
      </p:sp>
      <p:pic>
        <p:nvPicPr>
          <p:cNvPr id="8" name="Picture 7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663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463040"/>
            <a:ext cx="4693615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0020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Microservice Topology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FastAPI ASGI Microservice: Asynchronous REST backend running on Uvicorn, preloading model artifacts into memory upon startup via lifespan handlers.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Pydantic v2 Runtime Validation: Enforces strict schema contracts across Area, Bedrooms, Location, Property Age, and Amenities input groups.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MongoDB Persistence Layer: Dual collection architecture (`properties` stores raw specifications; `predictions` stores valuation audits and timestamps).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High Throughput &amp; Low Latency: Achieves p95 inference response time under 15 ms on single-instance deployments.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OpenAPI / Swagger Generation: Automatically generates interactive OpenAPI specification at `/docs`.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PROPTECH UI/UX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11. Modern Soft Pastel Web UI (CasaPredict)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12 of 15</a:t>
            </a:r>
          </a:p>
        </p:txBody>
      </p:sp>
      <p:pic>
        <p:nvPicPr>
          <p:cNvPr id="8" name="Picture 7" descr="actual_casapredi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663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463040"/>
            <a:ext cx="4693615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0020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Soft Pastel Design Tokens &amp; UX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Pastel Lavender (#E6E6FA): Active tabs, model badges, and renovation status indicators.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Soft Blush Pink (#F8DDEB): Accent highlights, interactive buttons, and brand badge.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Pastel Mint Green (#DDF3E4): Valuation result card, waterfront tags, positive delta indicators.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Cream White (#FFFDF8): Clean card surfaces, form backgrounds, and navigation header.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Interactive Chart.js Graphics: Real-time scatter plot showing position vs King County market sales.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</a:defRPr>
            </a:pPr>
            <a:r>
              <a:t>• Live MongoDB Audit Stream: Automatically fetches recent valuations and renders historical transaction cards.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12. Quality Assurance &amp; Automated Pytest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13 of 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5486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383280"/>
                <a:gridCol w="731520"/>
              </a:tblGrid>
              <a:tr h="666205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Verification Scope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test_api.py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Health, metrics, prediction validation, 422 error,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8A745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test_db.py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MongoDB ping, property schema write, prediction insert/query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8A745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test_features.py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Haversine spherical distance calculation to Seattle CBD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8A745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test_features.py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Composite structural amenity index bounds &amp;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8A745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test_features.py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24-column feature generator integrity (no NaNs / Inf)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8A745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test_features.py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3748"/>
                          </a:solidFill>
                        </a:defRPr>
                      </a:pPr>
                      <a:r>
                        <a:t>Mathematical proof of zero target leakage across splits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8A745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463040"/>
            <a:ext cx="5059375" cy="46634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$ python -m pytest tests/ -v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=================== test session starts ===================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platform win32 -- Python 3.13.9, pytest-8.4.2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collected 13 items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tests/test_api.py::test_health_endpoint PASSED        [  7%]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tests/test_api.py::test_metrics_endpoint PASSED       [ 15%]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tests/test_api.py::test_predict_endpoint_valid PASSED [ 23%]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tests/test_api.py::test_predict_validation_error PASSED[ 30%]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tests/test_api.py::test_get_predictions_endpoint PASSED[ 38%]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tests/test_api.py::test_get_property_endpoint PASSED  [ 46%]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tests/test_db.py::test_mongo_connection PASSED        [ 53%]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tests/test_db.py::test_insert_and_get_property PASSED [ 61%]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tests/test_db.py::test_insert_and_get_prediction PASSED[ 69%]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tests/test_features.py::test_haversine_distance PASSED [ 76%]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tests/test_features.py::test_calculate_amenity_score PASSED[ 84%]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tests/test_features.py::test_engineer_features PASSED  [ 92%]</a:t>
            </a:r>
          </a:p>
          <a:p>
            <a:pPr>
              <a:defRPr sz="850">
                <a:solidFill>
                  <a:srgbClr val="CBD5E0"/>
                </a:solidFill>
                <a:latin typeface="Courier New"/>
              </a:defRPr>
            </a:pPr>
            <a:r>
              <a:t>tests/test_features.py::test_zipcode_encoder_no_leakage PASSED [100%]</a:t>
            </a:r>
          </a:p>
          <a:p>
            <a:pPr>
              <a:defRPr sz="850" b="1">
                <a:solidFill>
                  <a:srgbClr val="48BB78"/>
                </a:solidFill>
                <a:latin typeface="Courier New"/>
              </a:defRPr>
            </a:pPr>
            <a:r>
              <a:t>=================== 13 passed in 4.39s ===================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13. REST API Specification &amp; Swagger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14 of 15</a:t>
            </a:r>
          </a:p>
        </p:txBody>
      </p:sp>
      <p:pic>
        <p:nvPicPr>
          <p:cNvPr id="8" name="Picture 7" descr="actual_swagger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852160" cy="4663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463040"/>
            <a:ext cx="4693615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0020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Production REST Endpoints</a:t>
            </a:r>
          </a:p>
          <a:p>
            <a:pPr>
              <a:spcAft>
                <a:spcPts val="500"/>
              </a:spcAft>
              <a:defRPr sz="950">
                <a:solidFill>
                  <a:srgbClr val="2D3748"/>
                </a:solidFill>
              </a:defRPr>
            </a:pPr>
            <a:r>
              <a:t>• GET /: Serves the single-page CasaPredict pastel web client.</a:t>
            </a:r>
          </a:p>
          <a:p>
            <a:pPr>
              <a:spcAft>
                <a:spcPts val="500"/>
              </a:spcAft>
              <a:defRPr sz="950">
                <a:solidFill>
                  <a:srgbClr val="2D3748"/>
                </a:solidFill>
              </a:defRPr>
            </a:pPr>
            <a:r>
              <a:t>• GET /health: Health check verifying model in-memory status and MongoDB ping.</a:t>
            </a:r>
          </a:p>
          <a:p>
            <a:pPr>
              <a:spcAft>
                <a:spcPts val="500"/>
              </a:spcAft>
              <a:defRPr sz="950">
                <a:solidFill>
                  <a:srgbClr val="2D3748"/>
                </a:solidFill>
              </a:defRPr>
            </a:pPr>
            <a:r>
              <a:t>• GET /metrics: Returns machine-readable model holdout &amp; 5-fold CV statistics.</a:t>
            </a:r>
          </a:p>
          <a:p>
            <a:pPr>
              <a:spcAft>
                <a:spcPts val="500"/>
              </a:spcAft>
              <a:defRPr sz="950">
                <a:solidFill>
                  <a:srgbClr val="2D3748"/>
                </a:solidFill>
              </a:defRPr>
            </a:pPr>
            <a:r>
              <a:t>• POST /predict: Ingests 5-group property specification; computes valuation; saves record to MongoDB.</a:t>
            </a:r>
          </a:p>
          <a:p>
            <a:pPr>
              <a:spcAft>
                <a:spcPts val="500"/>
              </a:spcAft>
              <a:defRPr sz="950">
                <a:solidFill>
                  <a:srgbClr val="2D3748"/>
                </a:solidFill>
              </a:defRPr>
            </a:pPr>
            <a:r>
              <a:t>• GET /predictions: Fetches recent valuation audits from MongoDB (limit N).</a:t>
            </a:r>
          </a:p>
          <a:p>
            <a:pPr>
              <a:spcAft>
                <a:spcPts val="500"/>
              </a:spcAft>
              <a:defRPr sz="950">
                <a:solidFill>
                  <a:srgbClr val="2D3748"/>
                </a:solidFill>
              </a:defRPr>
            </a:pPr>
            <a:r>
              <a:t>• GET /properties/{id}: Retrieves full property specification by UUID.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KING COUNTY REAL ESTATE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14. Conclusion, Future Roadmap &amp; Author Identifiers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18096"/>
                </a:solidFill>
              </a:defRPr>
            </a:pPr>
            <a:r>
              <a:t>Author: Varnika Rathi | Reg No: 12318240 | Roll No: 66  ·  GitHub: https://github.com/varnikarathi/houseprice_predictor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718096"/>
                </a:solidFill>
              </a:defRPr>
            </a:pPr>
            <a:r>
              <a:t>Slide 15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Key Contributions &amp; Impact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• State-of-the-Art Accuracy: Random Forest Regressor achieves R² = 0.8724 and MAE = $67,108.53 (12.26% MAPE), beating the acceptance target.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• Leakage-Proof Pipeline: Implemented within-fold Bayesian Target Encoding, preserving statistical validity across 5 folds.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• Robust Microservice &amp; Storage: High-concurrency FastAPI microservice seamlessly integrated with MongoDB document persistence.</a:t>
            </a:r>
          </a:p>
          <a:p>
            <a:pPr>
              <a:spcAft>
                <a:spcPts val="600"/>
              </a:spcAft>
              <a:defRPr sz="1000">
                <a:solidFill>
                  <a:srgbClr val="2D3748"/>
                </a:solidFill>
              </a:defRPr>
            </a:pPr>
            <a:r>
              <a:t>• Production-Ready Proptech UI: Clean soft pastel design system with interactive Chart.js visualizations and real-time MongoDB audit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A365D"/>
                </a:solidFill>
              </a:defRPr>
            </a:pPr>
            <a:r>
              <a:t>CANDIDATE IDENTIFIERS &amp; REPOSITORY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Candidate Name: Varnika Rathi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Registration Number: 12318240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Roll Number: 66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GitHub Repository: https://github.com/varnikarathi/houseprice_predictor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Dataset: King County, Washington (21,411 Verified Records)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Automated Tests: 13 / 13 Passed (100% Pass Rate)</a:t>
            </a:r>
          </a:p>
          <a:p>
            <a:pPr>
              <a:spcAft>
                <a:spcPts val="600"/>
              </a:spcAft>
              <a:defRPr sz="1050">
                <a:solidFill>
                  <a:srgbClr val="2D3748"/>
                </a:solidFill>
              </a:defRPr>
            </a:pPr>
            <a:r>
              <a:t>Status: Fully Tested, Documented &amp; Deployed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