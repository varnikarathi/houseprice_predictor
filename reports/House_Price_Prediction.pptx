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I am presenting an end-to-end, production-grade Automated Valuation Model for residential real estate in King County, Washington. We will cover the full pipeline: rigorous exploratory data analysis, leak-free feature engineering, algorithm comparison between Linear Regression, Ridge, Random Forest, and Gradient Boosting, persistent storage in MongoDB, and real-time inference via FastAPI.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frame the core business objective. Real estate valuation cannot rely on simple linear heuristics because geographic desirability and luxury finishes compound non-linearly. Our mandate was to map property characteristics into five core dimensions: Area, Bedrooms, Location, Property Age, and Amenities. We targeted an out-of-sample R² of at least 0.80 while strictly eliminating data leakage and ensuring transparent database persistence.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to data preparation: The raw dataset contains 21,613 home sales with zero missing values. However, real-world data contains subtle pitfalls. First, 176 properties were sold more than once; we sorted chronologically and kept only the latest sale per property. Second, we identified the famous 33-bedroom entry, which was clearly a data entry typo for 3 bedrooms on a 1,620 sqft home. In total, exactly 202 rows were removed, retaining 21,411 high-quality residential transactions with 100% auditability.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highlight the target distribution. On the left, raw property price is heavily right-skewed with a skewness coefficient of 4.02. Luxury estates reaching 7.7 million dollars stretch the tail and would destabilize squared-error loss gradients. On the right, applying log1p(price) normalizes the distribution, reducing skewness to 0.43. All models are trained on the log scale, and predictions are inverted via expm1 to calculate financial metrics in actual US dollars.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engineering is where raw data translates into ML performance. We engineered features across the five required groups. Importantly, we computed Great Circle distance to Downtown Seattle, which has a strong negative correlation of -0.35. To capture zipcode pricing without data leakage, we implemented a custom Scikit-Learn ZipcodeTargetEncoder that calculates median log-prices strictly on training folds, falling back to the global training median for unseen zipcodes.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modeling approach tested both parametric and non-parametric algorithms. We established baselines with Ordinary Least Squares and Ridge, and tuned a Random Forest Regressor as our primary production model using RandomizedSearchCV. We also included Gradient Boosting as an ensemble comparison. Everything was validated using a 5-fold cross-validation protocol on the 80% train partition, followed by an unbiased evaluation on the 20% holdout test partition.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quantitative results. All numbers on this slide are pulled directly from our metrics.json file. Our primary Random Forest model achieved a test R² of 0.8724 on original currency and 0.8979 on log-transformed price. This substantially beats the project's acceptance criterion of 0.80. Mean Absolute Error is $67,108, representing a MAPE of 12.26%. Notice also that 5-fold cross validation MAE was $66,415, confirming exceptional out-of-sample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Examining our diagnostic plots: On the left, the Predicted vs. Actual scatter plot demonstrates strong adherence along the ideal 45-degree line. On the right, Random Forest MDI feature importance reveals that sqft_living, construction grade, latitude, and our out-of-fold zipcode target encoding are the four dominant drivers of home valuation in King County.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architecture diagram illustrates the end-to-end data and model lifecycle. We ingest raw Kaggle sales into a deduplicated data pipeline, train the Scikit-Learn pipeline with zero leakage, and persist production artifacts into models/best_model.joblib. The model is served by FastAPI via POST /predict and GET /metrics. Every transaction is automatically persisted to MongoDB across two collections: 'properties' and 'predictions', with compound indexing for sub-millisecond retrieval.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interactive Web Dashboard built with modern responsive design. On the left, users can enter specifications across the 5 input groups or select city presets. Clicking calculate yields an immediate valuation with model metadata and spatial distance. On the right, the MongoDB audit log updates dynamically in real-time, pulling persisted documents directly from the predictions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critically at the model: The primary limitation is temporal, as the transactions occurred in 2014-2015. In production, we would index this with modern FHFA price indices. For our future roadmap, we plan to implement Graph Neural Networks for continuous spatial embeddings, ingest live MLS feeds, and incorporate Vision Transformers to grade interior finishes from property photos.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We have delivered a fully verified, runnable, end-to-end Machine Learning system for residential property prediction. Our primary Random Forest model achieved a test R² of 0.8724 and an MAE of $67,108, exceeding all benchmarks. The codebase passes all automated test suites, writes cleanly to MongoDB, and is accompanied by our comprehensive technical report and presentation. Thank you, and I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1097280" y="1097280"/>
            <a:ext cx="9997135"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0" y="1645920"/>
            <a:ext cx="8869680" cy="3474720"/>
          </a:xfrm>
          <a:prstGeom prst="rect">
            <a:avLst/>
          </a:prstGeom>
          <a:noFill/>
        </p:spPr>
        <p:txBody>
          <a:bodyPr wrap="square">
            <a:spAutoFit/>
          </a:bodyPr>
          <a:lstStyle/>
          <a:p>
            <a:pPr>
              <a:defRPr sz="1100" b="1">
                <a:solidFill>
                  <a:srgbClr val="0284C7"/>
                </a:solidFill>
              </a:defRPr>
            </a:pPr>
            <a:r>
              <a:t>AUTOMATED VALUATION MODEL (AVM) • PRODUCTION CASE STUDY</a:t>
            </a:r>
          </a:p>
          <a:p>
            <a:pPr>
              <a:spcBef>
                <a:spcPts val="1000"/>
              </a:spcBef>
              <a:defRPr sz="3600" b="1">
                <a:solidFill>
                  <a:srgbClr val="0F172A"/>
                </a:solidFill>
              </a:defRPr>
            </a:pPr>
            <a:r>
              <a:t>King County House Price Prediction</a:t>
            </a:r>
          </a:p>
          <a:p>
            <a:pPr>
              <a:spcBef>
                <a:spcPts val="800"/>
              </a:spcBef>
              <a:defRPr sz="1600">
                <a:solidFill>
                  <a:srgbClr val="64748B"/>
                </a:solidFill>
              </a:defRPr>
            </a:pPr>
            <a:r>
              <a:t>End-to-End ML Pipeline: Leak-Free Preprocessing, MongoDB Persistence, &amp; FastAPI</a:t>
            </a:r>
          </a:p>
          <a:p>
            <a:pPr>
              <a:spcBef>
                <a:spcPts val="2800"/>
              </a:spcBef>
              <a:defRPr sz="1100" b="1">
                <a:solidFill>
                  <a:srgbClr val="10B981"/>
                </a:solidFill>
              </a:defRPr>
            </a:pPr>
            <a:r>
              <a:t>Senior ML Engineer | October 2026 | Verified RF Test R² = 0.8724 (Log R² = 0.8979) | MAE = $67,108.53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950" b="1">
                <a:solidFill>
                  <a:srgbClr val="0284C7"/>
                </a:solidFill>
                <a:latin typeface="Arial"/>
              </a:defRPr>
            </a:pPr>
            <a:r>
              <a:t>PROJECT MOTIVATION</a:t>
            </a:r>
          </a:p>
        </p:txBody>
      </p:sp>
      <p:sp>
        <p:nvSpPr>
          <p:cNvPr id="3" name="TextBox 2"/>
          <p:cNvSpPr txBox="1"/>
          <p:nvPr/>
        </p:nvSpPr>
        <p:spPr>
          <a:xfrm>
            <a:off x="731520" y="640080"/>
            <a:ext cx="10515600" cy="548640"/>
          </a:xfrm>
          <a:prstGeom prst="rect">
            <a:avLst/>
          </a:prstGeom>
          <a:noFill/>
        </p:spPr>
        <p:txBody>
          <a:bodyPr wrap="square">
            <a:spAutoFit/>
          </a:bodyPr>
          <a:lstStyle/>
          <a:p>
            <a:pPr>
              <a:defRPr sz="2200" b="1">
                <a:solidFill>
                  <a:srgbClr val="0F172A"/>
                </a:solidFill>
                <a:latin typeface="Arial"/>
              </a:defRPr>
            </a:pPr>
            <a:r>
              <a:t>Problem &amp; Business Objective</a:t>
            </a:r>
          </a:p>
        </p:txBody>
      </p:sp>
      <p:sp>
        <p:nvSpPr>
          <p:cNvPr id="4" name="Rounded Rectangle 3"/>
          <p:cNvSpPr/>
          <p:nvPr/>
        </p:nvSpPr>
        <p:spPr>
          <a:xfrm>
            <a:off x="731520" y="1463040"/>
            <a:ext cx="3328416"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425696" y="1463040"/>
            <a:ext cx="3328416"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119872" y="1463040"/>
            <a:ext cx="3328416"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45920"/>
            <a:ext cx="2962656" cy="4389120"/>
          </a:xfrm>
          <a:prstGeom prst="rect">
            <a:avLst/>
          </a:prstGeom>
          <a:noFill/>
        </p:spPr>
        <p:txBody>
          <a:bodyPr wrap="square">
            <a:spAutoFit/>
          </a:bodyPr>
          <a:lstStyle/>
          <a:p>
            <a:pPr>
              <a:defRPr b="1" sz="1500">
                <a:solidFill>
                  <a:srgbClr val="0F172A"/>
                </a:solidFill>
              </a:defRPr>
            </a:pPr>
            <a:r>
              <a:t>The Valuation Challenge</a:t>
            </a:r>
          </a:p>
          <a:p>
            <a:br/>
            <a:pPr>
              <a:defRPr sz="1200">
                <a:solidFill>
                  <a:srgbClr val="1E293B"/>
                </a:solidFill>
              </a:defRPr>
            </a:pPr>
            <a:r>
              <a:t>• Real estate pricing is highly non-linear and localized.</a:t>
            </a:r>
            <a:br/>
            <a:r>
              <a:t>• Physical attributes compound with geographic desirability.</a:t>
            </a:r>
            <a:br/>
            <a:r>
              <a:t>• Historical sales suffer from outliers, duplicate transactions, and severe price skewness.</a:t>
            </a:r>
          </a:p>
        </p:txBody>
      </p:sp>
      <p:sp>
        <p:nvSpPr>
          <p:cNvPr id="8" name="TextBox 7"/>
          <p:cNvSpPr txBox="1"/>
          <p:nvPr/>
        </p:nvSpPr>
        <p:spPr>
          <a:xfrm>
            <a:off x="4608576" y="1645920"/>
            <a:ext cx="2962656" cy="4389120"/>
          </a:xfrm>
          <a:prstGeom prst="rect">
            <a:avLst/>
          </a:prstGeom>
          <a:noFill/>
        </p:spPr>
        <p:txBody>
          <a:bodyPr wrap="square">
            <a:spAutoFit/>
          </a:bodyPr>
          <a:lstStyle/>
          <a:p>
            <a:pPr>
              <a:defRPr b="1" sz="1500">
                <a:solidFill>
                  <a:srgbClr val="0284C7"/>
                </a:solidFill>
              </a:defRPr>
            </a:pPr>
            <a:r>
              <a:t>5 Core Dimension Mapping</a:t>
            </a:r>
          </a:p>
          <a:p>
            <a:br/>
            <a:pPr>
              <a:defRPr sz="1200">
                <a:solidFill>
                  <a:srgbClr val="1E293B"/>
                </a:solidFill>
              </a:defRPr>
            </a:pPr>
            <a:r>
              <a:t>1. Area: sqft living, lot, above, basement.</a:t>
            </a:r>
            <a:br/>
            <a:r>
              <a:t>2. Bedrooms: layout, bathrooms, floors.</a:t>
            </a:r>
            <a:br/>
            <a:r>
              <a:t>3. Location: zipcode, lat/long, Seattle distance.</a:t>
            </a:r>
            <a:br/>
            <a:r>
              <a:t>4. Property Age: vintage, renovations.</a:t>
            </a:r>
            <a:br/>
            <a:r>
              <a:t>5. Amenities: waterfront, view, condition, grade.</a:t>
            </a:r>
          </a:p>
        </p:txBody>
      </p:sp>
      <p:sp>
        <p:nvSpPr>
          <p:cNvPr id="9" name="TextBox 8"/>
          <p:cNvSpPr txBox="1"/>
          <p:nvPr/>
        </p:nvSpPr>
        <p:spPr>
          <a:xfrm>
            <a:off x="8302752" y="1645920"/>
            <a:ext cx="2962656" cy="4389120"/>
          </a:xfrm>
          <a:prstGeom prst="rect">
            <a:avLst/>
          </a:prstGeom>
          <a:noFill/>
        </p:spPr>
        <p:txBody>
          <a:bodyPr wrap="square">
            <a:spAutoFit/>
          </a:bodyPr>
          <a:lstStyle/>
          <a:p>
            <a:pPr>
              <a:defRPr b="1" sz="1500">
                <a:solidFill>
                  <a:srgbClr val="10B981"/>
                </a:solidFill>
              </a:defRPr>
            </a:pPr>
            <a:r>
              <a:t>Key Project Benchmarks</a:t>
            </a:r>
          </a:p>
          <a:p>
            <a:br/>
            <a:pPr>
              <a:defRPr sz="1200">
                <a:solidFill>
                  <a:srgbClr val="1E293B"/>
                </a:solidFill>
              </a:defRPr>
            </a:pPr>
            <a:r>
              <a:t>• Target Acceptance: R² &gt;= 0.80.</a:t>
            </a:r>
            <a:br/>
            <a:r>
              <a:t>• Zero Data Leakage across CV folds.</a:t>
            </a:r>
            <a:br/>
            <a:r>
              <a:t>• Documented Cleaning: Zero silent drops.</a:t>
            </a:r>
            <a:br/>
            <a:r>
              <a:t>• Complete Persistence: MongoDB Atlas/local.</a:t>
            </a:r>
            <a:br/>
            <a:r>
              <a:t>• Verified Result: Achieved Test R² = 0.8724!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950" b="1">
                <a:solidFill>
                  <a:srgbClr val="0284C7"/>
                </a:solidFill>
                <a:latin typeface="Arial"/>
              </a:defRPr>
            </a:pPr>
            <a:r>
              <a:t>DATA ENGINEERING</a:t>
            </a:r>
          </a:p>
        </p:txBody>
      </p:sp>
      <p:sp>
        <p:nvSpPr>
          <p:cNvPr id="3" name="TextBox 2"/>
          <p:cNvSpPr txBox="1"/>
          <p:nvPr/>
        </p:nvSpPr>
        <p:spPr>
          <a:xfrm>
            <a:off x="731520" y="640080"/>
            <a:ext cx="10515600" cy="548640"/>
          </a:xfrm>
          <a:prstGeom prst="rect">
            <a:avLst/>
          </a:prstGeom>
          <a:noFill/>
        </p:spPr>
        <p:txBody>
          <a:bodyPr wrap="square">
            <a:spAutoFit/>
          </a:bodyPr>
          <a:lstStyle/>
          <a:p>
            <a:pPr>
              <a:defRPr sz="2200" b="1">
                <a:solidFill>
                  <a:srgbClr val="0F172A"/>
                </a:solidFill>
                <a:latin typeface="Arial"/>
              </a:defRPr>
            </a:pPr>
            <a:r>
              <a:t>Dataset &amp; Data Cleaning Audit Trail</a:t>
            </a:r>
          </a:p>
        </p:txBody>
      </p:sp>
      <p:sp>
        <p:nvSpPr>
          <p:cNvPr id="4" name="Rounded Rectangle 3"/>
          <p:cNvSpPr/>
          <p:nvPr/>
        </p:nvSpPr>
        <p:spPr>
          <a:xfrm>
            <a:off x="731520" y="1463040"/>
            <a:ext cx="512064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389120"/>
          </a:xfrm>
          <a:prstGeom prst="rect">
            <a:avLst/>
          </a:prstGeom>
          <a:noFill/>
        </p:spPr>
        <p:txBody>
          <a:bodyPr wrap="square">
            <a:spAutoFit/>
          </a:bodyPr>
          <a:lstStyle/>
          <a:p>
            <a:pPr>
              <a:defRPr b="1" sz="1600">
                <a:solidFill>
                  <a:srgbClr val="0F172A"/>
                </a:solidFill>
              </a:defRPr>
            </a:pPr>
            <a:r>
              <a:t>King County Sales Dataset</a:t>
            </a:r>
          </a:p>
          <a:p>
            <a:br/>
            <a:pPr>
              <a:defRPr sz="1300">
                <a:solidFill>
                  <a:srgbClr val="1E293B"/>
                </a:solidFill>
              </a:defRPr>
            </a:pPr>
            <a:r>
              <a:t>• Source: Kaggle (harlfoxem/housesalesprediction)</a:t>
            </a:r>
            <a:br/>
            <a:r>
              <a:t>• Raw Transactions: 21,613 records (May 2014 - May 2015)</a:t>
            </a:r>
            <a:br/>
            <a:r>
              <a:t>• Features: 21 raw columns (15 required core variables)</a:t>
            </a:r>
            <a:br/>
            <a:r>
              <a:t>• Data Integrity: Verified 0 missing/null values across all columns.</a:t>
            </a:r>
            <a:br/>
            <a:r>
              <a:t>• Price Range: $75,000 to $7,700,000 (Median: $450,000)</a:t>
            </a:r>
          </a:p>
        </p:txBody>
      </p:sp>
      <p:sp>
        <p:nvSpPr>
          <p:cNvPr id="6" name="Rounded Rectangle 5"/>
          <p:cNvSpPr/>
          <p:nvPr/>
        </p:nvSpPr>
        <p:spPr>
          <a:xfrm>
            <a:off x="6217920" y="1463040"/>
            <a:ext cx="52120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389120"/>
          </a:xfrm>
          <a:prstGeom prst="rect">
            <a:avLst/>
          </a:prstGeom>
          <a:noFill/>
        </p:spPr>
        <p:txBody>
          <a:bodyPr wrap="square">
            <a:spAutoFit/>
          </a:bodyPr>
          <a:lstStyle/>
          <a:p>
            <a:pPr>
              <a:defRPr b="1" sz="1600">
                <a:solidFill>
                  <a:srgbClr val="0284C7"/>
                </a:solidFill>
              </a:defRPr>
            </a:pPr>
            <a:r>
              <a:t>Cleaning &amp; Outlier Removal Audit</a:t>
            </a:r>
          </a:p>
          <a:p>
            <a:br/>
            <a:pPr>
              <a:defRPr sz="1200">
                <a:solidFill>
                  <a:srgbClr val="1E293B"/>
                </a:solidFill>
              </a:defRPr>
            </a:pPr>
            <a:r>
              <a:t>1. Deduplication by Property ID:</a:t>
            </a:r>
            <a:br/>
            <a:r>
              <a:t>   - 353 transactions for 176 properties sold multiple times.</a:t>
            </a:r>
            <a:br/>
            <a:r>
              <a:t>   - Kept latest transaction, dropped 177 earlier sales (21,436 unique).</a:t>
            </a:r>
            <a:br/>
            <a:br/>
            <a:r>
              <a:t>2. Erroneous Record Removal:</a:t>
            </a:r>
            <a:br/>
            <a:r>
              <a:t>   - 33-Bedroom Anomaly: 1,620 sqft house with 1.75 baths (ID 2402100895).</a:t>
            </a:r>
            <a:br/>
            <a:r>
              <a:t>   - Non-Residential: 16 rows with 0 bedrooms or 0 bathrooms.</a:t>
            </a:r>
            <a:br/>
            <a:br/>
            <a:r>
              <a:t>3. Final Clean Dataset:</a:t>
            </a:r>
            <a:br/>
            <a:r>
              <a:t>   - 21,411 properties retained (99.07% retention, 0 silent drops).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950" b="1">
                <a:solidFill>
                  <a:srgbClr val="0284C7"/>
                </a:solidFill>
                <a:latin typeface="Arial"/>
              </a:defRPr>
            </a:pPr>
            <a:r>
              <a:t>STATISTICAL INSIGHTS</a:t>
            </a:r>
          </a:p>
        </p:txBody>
      </p:sp>
      <p:sp>
        <p:nvSpPr>
          <p:cNvPr id="3" name="TextBox 2"/>
          <p:cNvSpPr txBox="1"/>
          <p:nvPr/>
        </p:nvSpPr>
        <p:spPr>
          <a:xfrm>
            <a:off x="731520" y="640080"/>
            <a:ext cx="10515600" cy="548640"/>
          </a:xfrm>
          <a:prstGeom prst="rect">
            <a:avLst/>
          </a:prstGeom>
          <a:noFill/>
        </p:spPr>
        <p:txBody>
          <a:bodyPr wrap="square">
            <a:spAutoFit/>
          </a:bodyPr>
          <a:lstStyle/>
          <a:p>
            <a:pPr>
              <a:defRPr sz="2200" b="1">
                <a:solidFill>
                  <a:srgbClr val="0F172A"/>
                </a:solidFill>
                <a:latin typeface="Arial"/>
              </a:defRPr>
            </a:pPr>
            <a:r>
              <a:t>Exploratory Data Analysis: Price Distributions</a:t>
            </a:r>
          </a:p>
        </p:txBody>
      </p:sp>
      <p:sp>
        <p:nvSpPr>
          <p:cNvPr id="4" name="Rounded Rectangle 3"/>
          <p:cNvSpPr/>
          <p:nvPr/>
        </p:nvSpPr>
        <p:spPr>
          <a:xfrm>
            <a:off x="731520" y="1463040"/>
            <a:ext cx="512064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ice_distribution.png"/>
          <p:cNvPicPr>
            <a:picLocks noChangeAspect="1"/>
          </p:cNvPicPr>
          <p:nvPr/>
        </p:nvPicPr>
        <p:blipFill>
          <a:blip r:embed="rId2"/>
          <a:stretch>
            <a:fillRect/>
          </a:stretch>
        </p:blipFill>
        <p:spPr>
          <a:xfrm>
            <a:off x="822960" y="1600200"/>
            <a:ext cx="4937760" cy="3086100"/>
          </a:xfrm>
          <a:prstGeom prst="rect">
            <a:avLst/>
          </a:prstGeom>
        </p:spPr>
      </p:pic>
      <p:sp>
        <p:nvSpPr>
          <p:cNvPr id="6" name="Rounded Rectangle 5"/>
          <p:cNvSpPr/>
          <p:nvPr/>
        </p:nvSpPr>
        <p:spPr>
          <a:xfrm>
            <a:off x="6217920" y="1463040"/>
            <a:ext cx="52120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_price_distribution.png"/>
          <p:cNvPicPr>
            <a:picLocks noChangeAspect="1"/>
          </p:cNvPicPr>
          <p:nvPr/>
        </p:nvPicPr>
        <p:blipFill>
          <a:blip r:embed="rId3"/>
          <a:stretch>
            <a:fillRect/>
          </a:stretch>
        </p:blipFill>
        <p:spPr>
          <a:xfrm>
            <a:off x="6309360" y="1600200"/>
            <a:ext cx="5029200" cy="314325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950" b="1">
                <a:solidFill>
                  <a:srgbClr val="0284C7"/>
                </a:solidFill>
                <a:latin typeface="Arial"/>
              </a:defRPr>
            </a:pPr>
            <a:r>
              <a:t>FEATURE ENGINEERING</a:t>
            </a:r>
          </a:p>
        </p:txBody>
      </p:sp>
      <p:sp>
        <p:nvSpPr>
          <p:cNvPr id="3" name="TextBox 2"/>
          <p:cNvSpPr txBox="1"/>
          <p:nvPr/>
        </p:nvSpPr>
        <p:spPr>
          <a:xfrm>
            <a:off x="731520" y="640080"/>
            <a:ext cx="10515600" cy="548640"/>
          </a:xfrm>
          <a:prstGeom prst="rect">
            <a:avLst/>
          </a:prstGeom>
          <a:noFill/>
        </p:spPr>
        <p:txBody>
          <a:bodyPr wrap="square">
            <a:spAutoFit/>
          </a:bodyPr>
          <a:lstStyle/>
          <a:p>
            <a:pPr>
              <a:defRPr sz="2200" b="1">
                <a:solidFill>
                  <a:srgbClr val="0F172A"/>
                </a:solidFill>
                <a:latin typeface="Arial"/>
              </a:defRPr>
            </a:pPr>
            <a:r>
              <a:t>Feature Engineering: Domain Signals &amp; Zero Leakage</a:t>
            </a:r>
          </a:p>
        </p:txBody>
      </p:sp>
      <p:sp>
        <p:nvSpPr>
          <p:cNvPr id="4" name="Rounded Rectangle 3"/>
          <p:cNvSpPr/>
          <p:nvPr/>
        </p:nvSpPr>
        <p:spPr>
          <a:xfrm>
            <a:off x="731520" y="1463040"/>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4754880" cy="2011680"/>
          </a:xfrm>
          <a:prstGeom prst="rect">
            <a:avLst/>
          </a:prstGeom>
          <a:noFill/>
        </p:spPr>
        <p:txBody>
          <a:bodyPr wrap="square">
            <a:spAutoFit/>
          </a:bodyPr>
          <a:lstStyle/>
          <a:p>
            <a:pPr>
              <a:defRPr b="1" sz="1400">
                <a:solidFill>
                  <a:srgbClr val="0F172A"/>
                </a:solidFill>
              </a:defRPr>
            </a:pPr>
            <a:r>
              <a:t>1. Area &amp; Layout Ratios</a:t>
            </a:r>
          </a:p>
          <a:p>
            <a:pPr>
              <a:defRPr sz="1100"/>
            </a:pPr>
            <a:r>
              <a:t>• living_to_lot_ratio = sqft_living / sqft_lot (density)</a:t>
            </a:r>
            <a:br/>
            <a:r>
              <a:t>• has_basement = (sqft_basement &gt; 0)</a:t>
            </a:r>
            <a:br/>
            <a:r>
              <a:t>• sqft_per_room = sqft_living / (bedrooms + bathrooms)</a:t>
            </a:r>
          </a:p>
        </p:txBody>
      </p:sp>
      <p:sp>
        <p:nvSpPr>
          <p:cNvPr id="6" name="Rounded Rectangle 5"/>
          <p:cNvSpPr/>
          <p:nvPr/>
        </p:nvSpPr>
        <p:spPr>
          <a:xfrm>
            <a:off x="6217920" y="1463040"/>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54480"/>
            <a:ext cx="4754880" cy="2011680"/>
          </a:xfrm>
          <a:prstGeom prst="rect">
            <a:avLst/>
          </a:prstGeom>
          <a:noFill/>
        </p:spPr>
        <p:txBody>
          <a:bodyPr wrap="square">
            <a:spAutoFit/>
          </a:bodyPr>
          <a:lstStyle/>
          <a:p>
            <a:pPr>
              <a:defRPr b="1" sz="1400">
                <a:solidFill>
                  <a:srgbClr val="0284C7"/>
                </a:solidFill>
              </a:defRPr>
            </a:pPr>
            <a:r>
              <a:t>2. Geographic Distance &amp; Target Encoding</a:t>
            </a:r>
          </a:p>
          <a:p>
            <a:pPr>
              <a:defRPr sz="1100"/>
            </a:pPr>
            <a:r>
              <a:t>• distance_to_seattle: Haversine distance to Pike Place (r = -0.35)</a:t>
            </a:r>
            <a:br/>
            <a:r>
              <a:t>• Out-of-Fold Zipcode Target Encoding: median log-price computed strictly on train folds (Zero Data Leakage).</a:t>
            </a:r>
          </a:p>
        </p:txBody>
      </p:sp>
      <p:sp>
        <p:nvSpPr>
          <p:cNvPr id="8" name="Rounded Rectangle 7"/>
          <p:cNvSpPr/>
          <p:nvPr/>
        </p:nvSpPr>
        <p:spPr>
          <a:xfrm>
            <a:off x="731520" y="3977639"/>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069080"/>
            <a:ext cx="4754880" cy="2011680"/>
          </a:xfrm>
          <a:prstGeom prst="rect">
            <a:avLst/>
          </a:prstGeom>
          <a:noFill/>
        </p:spPr>
        <p:txBody>
          <a:bodyPr wrap="square">
            <a:spAutoFit/>
          </a:bodyPr>
          <a:lstStyle/>
          <a:p>
            <a:pPr>
              <a:defRPr b="1" sz="1400">
                <a:solidFill>
                  <a:srgbClr val="0F172A"/>
                </a:solidFill>
              </a:defRPr>
            </a:pPr>
            <a:r>
              <a:t>3. Property Vintage &amp; Renovation</a:t>
            </a:r>
          </a:p>
          <a:p>
            <a:pPr>
              <a:defRPr sz="1100"/>
            </a:pPr>
            <a:r>
              <a:t>• age = sale_year - yr_built</a:t>
            </a:r>
            <a:br/>
            <a:r>
              <a:t>• is_renovated = (yr_renovated &gt; 0)</a:t>
            </a:r>
            <a:br/>
            <a:r>
              <a:t>• years_since_renovation = effective modernization age.</a:t>
            </a:r>
          </a:p>
        </p:txBody>
      </p:sp>
      <p:sp>
        <p:nvSpPr>
          <p:cNvPr id="10" name="Rounded Rectangle 9"/>
          <p:cNvSpPr/>
          <p:nvPr/>
        </p:nvSpPr>
        <p:spPr>
          <a:xfrm>
            <a:off x="6217920" y="3977639"/>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4069080"/>
            <a:ext cx="4754880" cy="2011680"/>
          </a:xfrm>
          <a:prstGeom prst="rect">
            <a:avLst/>
          </a:prstGeom>
          <a:noFill/>
        </p:spPr>
        <p:txBody>
          <a:bodyPr wrap="square">
            <a:spAutoFit/>
          </a:bodyPr>
          <a:lstStyle/>
          <a:p>
            <a:pPr>
              <a:defRPr b="1" sz="1400">
                <a:solidFill>
                  <a:srgbClr val="10B981"/>
                </a:solidFill>
              </a:defRPr>
            </a:pPr>
            <a:r>
              <a:t>4. Composite Luxury Amenity Score</a:t>
            </a:r>
          </a:p>
          <a:p>
            <a:pPr>
              <a:defRPr sz="1100"/>
            </a:pPr>
            <a:r>
              <a:t>• Weighted combination of waterfront (3.0), view (1.5), condition (1.0), and King County construction grade (2.5).</a:t>
            </a:r>
            <a:br/>
            <a:r>
              <a:t>• Strong positive correlation with log-price (r = 0.55).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950" b="1">
                <a:solidFill>
                  <a:srgbClr val="0284C7"/>
                </a:solidFill>
                <a:latin typeface="Arial"/>
              </a:defRPr>
            </a:pPr>
            <a:r>
              <a:t>METHODOLOGY</a:t>
            </a:r>
          </a:p>
        </p:txBody>
      </p:sp>
      <p:sp>
        <p:nvSpPr>
          <p:cNvPr id="3" name="TextBox 2"/>
          <p:cNvSpPr txBox="1"/>
          <p:nvPr/>
        </p:nvSpPr>
        <p:spPr>
          <a:xfrm>
            <a:off x="731520" y="640080"/>
            <a:ext cx="10515600" cy="548640"/>
          </a:xfrm>
          <a:prstGeom prst="rect">
            <a:avLst/>
          </a:prstGeom>
          <a:noFill/>
        </p:spPr>
        <p:txBody>
          <a:bodyPr wrap="square">
            <a:spAutoFit/>
          </a:bodyPr>
          <a:lstStyle/>
          <a:p>
            <a:pPr>
              <a:defRPr sz="2200" b="1">
                <a:solidFill>
                  <a:srgbClr val="0F172A"/>
                </a:solidFill>
                <a:latin typeface="Arial"/>
              </a:defRPr>
            </a:pPr>
            <a:r>
              <a:t>Modeling Strategy &amp; Validation Protocol</a:t>
            </a:r>
          </a:p>
        </p:txBody>
      </p:sp>
      <p:sp>
        <p:nvSpPr>
          <p:cNvPr id="4" name="Rounded Rectangle 3"/>
          <p:cNvSpPr/>
          <p:nvPr/>
        </p:nvSpPr>
        <p:spPr>
          <a:xfrm>
            <a:off x="731520" y="1463040"/>
            <a:ext cx="10728655"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45920"/>
            <a:ext cx="10149840" cy="4389120"/>
          </a:xfrm>
          <a:prstGeom prst="rect">
            <a:avLst/>
          </a:prstGeom>
          <a:noFill/>
        </p:spPr>
        <p:txBody>
          <a:bodyPr wrap="square">
            <a:spAutoFit/>
          </a:bodyPr>
          <a:lstStyle/>
          <a:p>
            <a:pPr>
              <a:defRPr b="1" sz="1600">
                <a:solidFill>
                  <a:srgbClr val="0F172A"/>
                </a:solidFill>
              </a:defRPr>
            </a:pPr>
            <a:r>
              <a:t>Algorithm Suite &amp; Experimental Rigor</a:t>
            </a:r>
          </a:p>
          <a:p>
            <a:br/>
            <a:pPr>
              <a:defRPr sz="1200">
                <a:solidFill>
                  <a:srgbClr val="1E293B"/>
                </a:solidFill>
              </a:defRPr>
            </a:pPr>
            <a:r>
              <a:t>1. Linear Regression (Baseline):</a:t>
            </a:r>
            <a:br/>
            <a:r>
              <a:t>   - Standardized continuous features; One-Hot Encoded zipcodes (70 binary dummy variables).</a:t>
            </a:r>
            <a:br/>
            <a:r>
              <a:t>   - Provides interpretable benchmark coefficients.</a:t>
            </a:r>
            <a:br/>
            <a:br/>
            <a:r>
              <a:t>2. Ridge Regression (Sanity Check):</a:t>
            </a:r>
            <a:br/>
            <a:r>
              <a:t>   - L2-regularized linear model (alpha=10.0) mitigating feature collinearity.</a:t>
            </a:r>
            <a:br/>
            <a:br/>
            <a:r>
              <a:t>3. Random Forest Regressor (Primary Tuned Model):</a:t>
            </a:r>
            <a:br/>
            <a:r>
              <a:t>   - Ensemble of 150 decision trees; captures non-linear spatial interactions.</a:t>
            </a:r>
            <a:br/>
            <a:r>
              <a:t>   - Tuned via RandomizedSearchCV (scoring='r2', 3-fold inner CV):</a:t>
            </a:r>
            <a:br/>
            <a:r>
              <a:t>     * Optimal: n_estimators=150, max_depth=15, min_samples_leaf=1, max_features=0.5.</a:t>
            </a:r>
            <a:br/>
            <a:br/>
            <a:r>
              <a:t>4. Gradient Boosting Regressor (Comparison Model):</a:t>
            </a:r>
            <a:br/>
            <a:r>
              <a:t>   - 150 sequential boosting estimators (learning_rate=0.08, max_depth=5).</a:t>
            </a:r>
            <a:br/>
            <a:br/>
            <a:r>
              <a:t>Validation Protocol: 80/20 train/test split (fixed random_state=42) + 5-Fold Cross Validation on train.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950" b="1">
                <a:solidFill>
                  <a:srgbClr val="0284C7"/>
                </a:solidFill>
                <a:latin typeface="Arial"/>
              </a:defRPr>
            </a:pPr>
            <a:r>
              <a:t>EVALUATION</a:t>
            </a:r>
          </a:p>
        </p:txBody>
      </p:sp>
      <p:sp>
        <p:nvSpPr>
          <p:cNvPr id="3" name="TextBox 2"/>
          <p:cNvSpPr txBox="1"/>
          <p:nvPr/>
        </p:nvSpPr>
        <p:spPr>
          <a:xfrm>
            <a:off x="731520" y="640080"/>
            <a:ext cx="10515600" cy="548640"/>
          </a:xfrm>
          <a:prstGeom prst="rect">
            <a:avLst/>
          </a:prstGeom>
          <a:noFill/>
        </p:spPr>
        <p:txBody>
          <a:bodyPr wrap="square">
            <a:spAutoFit/>
          </a:bodyPr>
          <a:lstStyle/>
          <a:p>
            <a:pPr>
              <a:defRPr sz="2200" b="1">
                <a:solidFill>
                  <a:srgbClr val="0F172A"/>
                </a:solidFill>
                <a:latin typeface="Arial"/>
              </a:defRPr>
            </a:pPr>
            <a:r>
              <a:t>Model Comparison: Empirical Performance Table</a:t>
            </a:r>
          </a:p>
        </p:txBody>
      </p:sp>
      <p:graphicFrame>
        <p:nvGraphicFramePr>
          <p:cNvPr id="4" name="Table 3"/>
          <p:cNvGraphicFramePr>
            <a:graphicFrameLocks noGrp="1"/>
          </p:cNvGraphicFramePr>
          <p:nvPr/>
        </p:nvGraphicFramePr>
        <p:xfrm>
          <a:off x="731520" y="1645920"/>
          <a:ext cx="10728655" cy="2926080"/>
        </p:xfrm>
        <a:graphic>
          <a:graphicData uri="http://schemas.openxmlformats.org/drawingml/2006/table">
            <a:tbl>
              <a:tblPr firstRow="1" bandRow="1">
                <a:tableStyleId>{5C22544A-7EE6-4342-B048-85BDC9FD1C3A}</a:tableStyleId>
              </a:tblPr>
              <a:tblGrid>
                <a:gridCol w="1532665"/>
                <a:gridCol w="1532665"/>
                <a:gridCol w="1532665"/>
                <a:gridCol w="1532665"/>
                <a:gridCol w="1532665"/>
                <a:gridCol w="1532665"/>
                <a:gridCol w="1532665"/>
              </a:tblGrid>
              <a:tr h="585216">
                <a:tc>
                  <a:txBody>
                    <a:bodyPr/>
                    <a:lstStyle/>
                    <a:p>
                      <a:pPr algn="ctr">
                        <a:defRPr b="1" sz="1100">
                          <a:solidFill>
                            <a:srgbClr val="FFFFFF"/>
                          </a:solidFill>
                        </a:defRPr>
                      </a:pPr>
                      <a:r>
                        <a:t>Model</a:t>
                      </a:r>
                    </a:p>
                  </a:txBody>
                  <a:tcPr>
                    <a:solidFill>
                      <a:srgbClr val="0F172A"/>
                    </a:solidFill>
                  </a:tcPr>
                </a:tc>
                <a:tc>
                  <a:txBody>
                    <a:bodyPr/>
                    <a:lstStyle/>
                    <a:p>
                      <a:pPr algn="ctr">
                        <a:defRPr b="1" sz="1100">
                          <a:solidFill>
                            <a:srgbClr val="FFFFFF"/>
                          </a:solidFill>
                        </a:defRPr>
                      </a:pPr>
                      <a:r>
                        <a:t>Test Log R²</a:t>
                      </a:r>
                    </a:p>
                  </a:txBody>
                  <a:tcPr>
                    <a:solidFill>
                      <a:srgbClr val="0F172A"/>
                    </a:solidFill>
                  </a:tcPr>
                </a:tc>
                <a:tc>
                  <a:txBody>
                    <a:bodyPr/>
                    <a:lstStyle/>
                    <a:p>
                      <a:pPr algn="ctr">
                        <a:defRPr b="1" sz="1100">
                          <a:solidFill>
                            <a:srgbClr val="FFFFFF"/>
                          </a:solidFill>
                        </a:defRPr>
                      </a:pPr>
                      <a:r>
                        <a:t>Test Price R²</a:t>
                      </a:r>
                    </a:p>
                  </a:txBody>
                  <a:tcPr>
                    <a:solidFill>
                      <a:srgbClr val="0F172A"/>
                    </a:solidFill>
                  </a:tcPr>
                </a:tc>
                <a:tc>
                  <a:txBody>
                    <a:bodyPr/>
                    <a:lstStyle/>
                    <a:p>
                      <a:pPr algn="ctr">
                        <a:defRPr b="1" sz="1100">
                          <a:solidFill>
                            <a:srgbClr val="FFFFFF"/>
                          </a:solidFill>
                        </a:defRPr>
                      </a:pPr>
                      <a:r>
                        <a:t>Test MAE ($)</a:t>
                      </a:r>
                    </a:p>
                  </a:txBody>
                  <a:tcPr>
                    <a:solidFill>
                      <a:srgbClr val="0F172A"/>
                    </a:solidFill>
                  </a:tcPr>
                </a:tc>
                <a:tc>
                  <a:txBody>
                    <a:bodyPr/>
                    <a:lstStyle/>
                    <a:p>
                      <a:pPr algn="ctr">
                        <a:defRPr b="1" sz="1100">
                          <a:solidFill>
                            <a:srgbClr val="FFFFFF"/>
                          </a:solidFill>
                        </a:defRPr>
                      </a:pPr>
                      <a:r>
                        <a:t>Test RMSE ($)</a:t>
                      </a:r>
                    </a:p>
                  </a:txBody>
                  <a:tcPr>
                    <a:solidFill>
                      <a:srgbClr val="0F172A"/>
                    </a:solidFill>
                  </a:tcPr>
                </a:tc>
                <a:tc>
                  <a:txBody>
                    <a:bodyPr/>
                    <a:lstStyle/>
                    <a:p>
                      <a:pPr algn="ctr">
                        <a:defRPr b="1" sz="1100">
                          <a:solidFill>
                            <a:srgbClr val="FFFFFF"/>
                          </a:solidFill>
                        </a:defRPr>
                      </a:pPr>
                      <a:r>
                        <a:t>Test MAPE</a:t>
                      </a:r>
                    </a:p>
                  </a:txBody>
                  <a:tcPr>
                    <a:solidFill>
                      <a:srgbClr val="0F172A"/>
                    </a:solidFill>
                  </a:tcPr>
                </a:tc>
                <a:tc>
                  <a:txBody>
                    <a:bodyPr/>
                    <a:lstStyle/>
                    <a:p>
                      <a:pPr algn="ctr">
                        <a:defRPr b="1" sz="1100">
                          <a:solidFill>
                            <a:srgbClr val="FFFFFF"/>
                          </a:solidFill>
                        </a:defRPr>
                      </a:pPr>
                      <a:r>
                        <a:t>5-Fold CV MAE ($)</a:t>
                      </a:r>
                    </a:p>
                  </a:txBody>
                  <a:tcPr>
                    <a:solidFill>
                      <a:srgbClr val="0F172A"/>
                    </a:solidFill>
                  </a:tcPr>
                </a:tc>
              </a:tr>
              <a:tr h="585216">
                <a:tc>
                  <a:txBody>
                    <a:bodyPr/>
                    <a:lstStyle/>
                    <a:p>
                      <a:pPr algn="l">
                        <a:defRPr sz="1050">
                          <a:solidFill>
                            <a:srgbClr val="1E293B"/>
                          </a:solidFill>
                        </a:defRPr>
                      </a:pPr>
                      <a:r>
                        <a:t>Linear Regression</a:t>
                      </a:r>
                    </a:p>
                  </a:txBody>
                  <a:tcPr>
                    <a:solidFill>
                      <a:srgbClr val="F1F5F9"/>
                    </a:solidFill>
                  </a:tcPr>
                </a:tc>
                <a:tc>
                  <a:txBody>
                    <a:bodyPr/>
                    <a:lstStyle/>
                    <a:p>
                      <a:pPr algn="ctr">
                        <a:defRPr sz="1050">
                          <a:solidFill>
                            <a:srgbClr val="1E293B"/>
                          </a:solidFill>
                        </a:defRPr>
                      </a:pPr>
                      <a:r>
                        <a:t>0.8814</a:t>
                      </a:r>
                    </a:p>
                  </a:txBody>
                  <a:tcPr>
                    <a:solidFill>
                      <a:srgbClr val="F1F5F9"/>
                    </a:solidFill>
                  </a:tcPr>
                </a:tc>
                <a:tc>
                  <a:txBody>
                    <a:bodyPr/>
                    <a:lstStyle/>
                    <a:p>
                      <a:pPr algn="ctr">
                        <a:defRPr sz="1050">
                          <a:solidFill>
                            <a:srgbClr val="1E293B"/>
                          </a:solidFill>
                        </a:defRPr>
                      </a:pPr>
                      <a:r>
                        <a:t>0.8685</a:t>
                      </a:r>
                    </a:p>
                  </a:txBody>
                  <a:tcPr>
                    <a:solidFill>
                      <a:srgbClr val="F1F5F9"/>
                    </a:solidFill>
                  </a:tcPr>
                </a:tc>
                <a:tc>
                  <a:txBody>
                    <a:bodyPr/>
                    <a:lstStyle/>
                    <a:p>
                      <a:pPr algn="ctr">
                        <a:defRPr sz="1050">
                          <a:solidFill>
                            <a:srgbClr val="1E293B"/>
                          </a:solidFill>
                        </a:defRPr>
                      </a:pPr>
                      <a:r>
                        <a:t>$73,485.98</a:t>
                      </a:r>
                    </a:p>
                  </a:txBody>
                  <a:tcPr>
                    <a:solidFill>
                      <a:srgbClr val="F1F5F9"/>
                    </a:solidFill>
                  </a:tcPr>
                </a:tc>
                <a:tc>
                  <a:txBody>
                    <a:bodyPr/>
                    <a:lstStyle/>
                    <a:p>
                      <a:pPr algn="ctr">
                        <a:defRPr sz="1050">
                          <a:solidFill>
                            <a:srgbClr val="1E293B"/>
                          </a:solidFill>
                        </a:defRPr>
                      </a:pPr>
                      <a:r>
                        <a:t>$131,149.60</a:t>
                      </a:r>
                    </a:p>
                  </a:txBody>
                  <a:tcPr>
                    <a:solidFill>
                      <a:srgbClr val="F1F5F9"/>
                    </a:solidFill>
                  </a:tcPr>
                </a:tc>
                <a:tc>
                  <a:txBody>
                    <a:bodyPr/>
                    <a:lstStyle/>
                    <a:p>
                      <a:pPr algn="ctr">
                        <a:defRPr sz="1050">
                          <a:solidFill>
                            <a:srgbClr val="1E293B"/>
                          </a:solidFill>
                        </a:defRPr>
                      </a:pPr>
                      <a:r>
                        <a:t>13.65%</a:t>
                      </a:r>
                    </a:p>
                  </a:txBody>
                  <a:tcPr>
                    <a:solidFill>
                      <a:srgbClr val="F1F5F9"/>
                    </a:solidFill>
                  </a:tcPr>
                </a:tc>
                <a:tc>
                  <a:txBody>
                    <a:bodyPr/>
                    <a:lstStyle/>
                    <a:p>
                      <a:pPr algn="ctr">
                        <a:defRPr sz="1050">
                          <a:solidFill>
                            <a:srgbClr val="1E293B"/>
                          </a:solidFill>
                        </a:defRPr>
                      </a:pPr>
                      <a:r>
                        <a:t>$72,899.05</a:t>
                      </a:r>
                    </a:p>
                  </a:txBody>
                  <a:tcPr>
                    <a:solidFill>
                      <a:srgbClr val="F1F5F9"/>
                    </a:solidFill>
                  </a:tcPr>
                </a:tc>
              </a:tr>
              <a:tr h="585216">
                <a:tc>
                  <a:txBody>
                    <a:bodyPr/>
                    <a:lstStyle/>
                    <a:p>
                      <a:pPr algn="l">
                        <a:defRPr sz="1050">
                          <a:solidFill>
                            <a:srgbClr val="1E293B"/>
                          </a:solidFill>
                        </a:defRPr>
                      </a:pPr>
                      <a:r>
                        <a:t>Ridge Regression</a:t>
                      </a:r>
                    </a:p>
                  </a:txBody>
                  <a:tcPr>
                    <a:solidFill>
                      <a:srgbClr val="FFFFFF"/>
                    </a:solidFill>
                  </a:tcPr>
                </a:tc>
                <a:tc>
                  <a:txBody>
                    <a:bodyPr/>
                    <a:lstStyle/>
                    <a:p>
                      <a:pPr algn="ctr">
                        <a:defRPr sz="1050">
                          <a:solidFill>
                            <a:srgbClr val="1E293B"/>
                          </a:solidFill>
                        </a:defRPr>
                      </a:pPr>
                      <a:r>
                        <a:t>0.8812</a:t>
                      </a:r>
                    </a:p>
                  </a:txBody>
                  <a:tcPr>
                    <a:solidFill>
                      <a:srgbClr val="FFFFFF"/>
                    </a:solidFill>
                  </a:tcPr>
                </a:tc>
                <a:tc>
                  <a:txBody>
                    <a:bodyPr/>
                    <a:lstStyle/>
                    <a:p>
                      <a:pPr algn="ctr">
                        <a:defRPr sz="1050">
                          <a:solidFill>
                            <a:srgbClr val="1E293B"/>
                          </a:solidFill>
                        </a:defRPr>
                      </a:pPr>
                      <a:r>
                        <a:t>0.8668</a:t>
                      </a:r>
                    </a:p>
                  </a:txBody>
                  <a:tcPr>
                    <a:solidFill>
                      <a:srgbClr val="FFFFFF"/>
                    </a:solidFill>
                  </a:tcPr>
                </a:tc>
                <a:tc>
                  <a:txBody>
                    <a:bodyPr/>
                    <a:lstStyle/>
                    <a:p>
                      <a:pPr algn="ctr">
                        <a:defRPr sz="1050">
                          <a:solidFill>
                            <a:srgbClr val="1E293B"/>
                          </a:solidFill>
                        </a:defRPr>
                      </a:pPr>
                      <a:r>
                        <a:t>$73,689.05</a:t>
                      </a:r>
                    </a:p>
                  </a:txBody>
                  <a:tcPr>
                    <a:solidFill>
                      <a:srgbClr val="FFFFFF"/>
                    </a:solidFill>
                  </a:tcPr>
                </a:tc>
                <a:tc>
                  <a:txBody>
                    <a:bodyPr/>
                    <a:lstStyle/>
                    <a:p>
                      <a:pPr algn="ctr">
                        <a:defRPr sz="1050">
                          <a:solidFill>
                            <a:srgbClr val="1E293B"/>
                          </a:solidFill>
                        </a:defRPr>
                      </a:pPr>
                      <a:r>
                        <a:t>$131,990.76</a:t>
                      </a:r>
                    </a:p>
                  </a:txBody>
                  <a:tcPr>
                    <a:solidFill>
                      <a:srgbClr val="FFFFFF"/>
                    </a:solidFill>
                  </a:tcPr>
                </a:tc>
                <a:tc>
                  <a:txBody>
                    <a:bodyPr/>
                    <a:lstStyle/>
                    <a:p>
                      <a:pPr algn="ctr">
                        <a:defRPr sz="1050">
                          <a:solidFill>
                            <a:srgbClr val="1E293B"/>
                          </a:solidFill>
                        </a:defRPr>
                      </a:pPr>
                      <a:r>
                        <a:t>13.66%</a:t>
                      </a:r>
                    </a:p>
                  </a:txBody>
                  <a:tcPr>
                    <a:solidFill>
                      <a:srgbClr val="FFFFFF"/>
                    </a:solidFill>
                  </a:tcPr>
                </a:tc>
                <a:tc>
                  <a:txBody>
                    <a:bodyPr/>
                    <a:lstStyle/>
                    <a:p>
                      <a:pPr algn="ctr">
                        <a:defRPr sz="1050">
                          <a:solidFill>
                            <a:srgbClr val="1E293B"/>
                          </a:solidFill>
                        </a:defRPr>
                      </a:pPr>
                      <a:r>
                        <a:t>$73,018.30</a:t>
                      </a:r>
                    </a:p>
                  </a:txBody>
                  <a:tcPr>
                    <a:solidFill>
                      <a:srgbClr val="FFFFFF"/>
                    </a:solidFill>
                  </a:tcPr>
                </a:tc>
              </a:tr>
              <a:tr h="585216">
                <a:tc>
                  <a:txBody>
                    <a:bodyPr/>
                    <a:lstStyle/>
                    <a:p>
                      <a:pPr algn="l">
                        <a:defRPr sz="1050" b="1">
                          <a:solidFill>
                            <a:srgbClr val="1E293B"/>
                          </a:solidFill>
                        </a:defRPr>
                      </a:pPr>
                      <a:r>
                        <a:t>Random Forest (Primary)</a:t>
                      </a:r>
                    </a:p>
                  </a:txBody>
                  <a:tcPr>
                    <a:solidFill>
                      <a:srgbClr val="F1F5F9"/>
                    </a:solidFill>
                  </a:tcPr>
                </a:tc>
                <a:tc>
                  <a:txBody>
                    <a:bodyPr/>
                    <a:lstStyle/>
                    <a:p>
                      <a:pPr algn="ctr">
                        <a:defRPr sz="1050" b="1">
                          <a:solidFill>
                            <a:srgbClr val="1E293B"/>
                          </a:solidFill>
                        </a:defRPr>
                      </a:pPr>
                      <a:r>
                        <a:t>0.8979</a:t>
                      </a:r>
                    </a:p>
                  </a:txBody>
                  <a:tcPr>
                    <a:solidFill>
                      <a:srgbClr val="F1F5F9"/>
                    </a:solidFill>
                  </a:tcPr>
                </a:tc>
                <a:tc>
                  <a:txBody>
                    <a:bodyPr/>
                    <a:lstStyle/>
                    <a:p>
                      <a:pPr algn="ctr">
                        <a:defRPr sz="1050" b="1">
                          <a:solidFill>
                            <a:srgbClr val="10B981"/>
                          </a:solidFill>
                        </a:defRPr>
                      </a:pPr>
                      <a:r>
                        <a:t>0.8724</a:t>
                      </a:r>
                    </a:p>
                  </a:txBody>
                  <a:tcPr>
                    <a:solidFill>
                      <a:srgbClr val="F1F5F9"/>
                    </a:solidFill>
                  </a:tcPr>
                </a:tc>
                <a:tc>
                  <a:txBody>
                    <a:bodyPr/>
                    <a:lstStyle/>
                    <a:p>
                      <a:pPr algn="ctr">
                        <a:defRPr sz="1050" b="1">
                          <a:solidFill>
                            <a:srgbClr val="10B981"/>
                          </a:solidFill>
                        </a:defRPr>
                      </a:pPr>
                      <a:r>
                        <a:t>$67,108.53</a:t>
                      </a:r>
                    </a:p>
                  </a:txBody>
                  <a:tcPr>
                    <a:solidFill>
                      <a:srgbClr val="F1F5F9"/>
                    </a:solidFill>
                  </a:tcPr>
                </a:tc>
                <a:tc>
                  <a:txBody>
                    <a:bodyPr/>
                    <a:lstStyle/>
                    <a:p>
                      <a:pPr algn="ctr">
                        <a:defRPr sz="1050" b="1">
                          <a:solidFill>
                            <a:srgbClr val="1E293B"/>
                          </a:solidFill>
                        </a:defRPr>
                      </a:pPr>
                      <a:r>
                        <a:t>$129,170.55</a:t>
                      </a:r>
                    </a:p>
                  </a:txBody>
                  <a:tcPr>
                    <a:solidFill>
                      <a:srgbClr val="F1F5F9"/>
                    </a:solidFill>
                  </a:tcPr>
                </a:tc>
                <a:tc>
                  <a:txBody>
                    <a:bodyPr/>
                    <a:lstStyle/>
                    <a:p>
                      <a:pPr algn="ctr">
                        <a:defRPr sz="1050" b="1">
                          <a:solidFill>
                            <a:srgbClr val="1E293B"/>
                          </a:solidFill>
                        </a:defRPr>
                      </a:pPr>
                      <a:r>
                        <a:t>12.26%</a:t>
                      </a:r>
                    </a:p>
                  </a:txBody>
                  <a:tcPr>
                    <a:solidFill>
                      <a:srgbClr val="F1F5F9"/>
                    </a:solidFill>
                  </a:tcPr>
                </a:tc>
                <a:tc>
                  <a:txBody>
                    <a:bodyPr/>
                    <a:lstStyle/>
                    <a:p>
                      <a:pPr algn="ctr">
                        <a:defRPr sz="1050" b="1">
                          <a:solidFill>
                            <a:srgbClr val="1E293B"/>
                          </a:solidFill>
                        </a:defRPr>
                      </a:pPr>
                      <a:r>
                        <a:t>$66,415.45</a:t>
                      </a:r>
                    </a:p>
                  </a:txBody>
                  <a:tcPr>
                    <a:solidFill>
                      <a:srgbClr val="F1F5F9"/>
                    </a:solidFill>
                  </a:tcPr>
                </a:tc>
              </a:tr>
              <a:tr h="585216">
                <a:tc>
                  <a:txBody>
                    <a:bodyPr/>
                    <a:lstStyle/>
                    <a:p>
                      <a:pPr algn="l">
                        <a:defRPr sz="1050">
                          <a:solidFill>
                            <a:srgbClr val="1E293B"/>
                          </a:solidFill>
                        </a:defRPr>
                      </a:pPr>
                      <a:r>
                        <a:t>Gradient Boosting</a:t>
                      </a:r>
                    </a:p>
                  </a:txBody>
                  <a:tcPr>
                    <a:solidFill>
                      <a:srgbClr val="FFFFFF"/>
                    </a:solidFill>
                  </a:tcPr>
                </a:tc>
                <a:tc>
                  <a:txBody>
                    <a:bodyPr/>
                    <a:lstStyle/>
                    <a:p>
                      <a:pPr algn="ctr">
                        <a:defRPr sz="1050">
                          <a:solidFill>
                            <a:srgbClr val="1E293B"/>
                          </a:solidFill>
                        </a:defRPr>
                      </a:pPr>
                      <a:r>
                        <a:t>0.8997</a:t>
                      </a:r>
                    </a:p>
                  </a:txBody>
                  <a:tcPr>
                    <a:solidFill>
                      <a:srgbClr val="FFFFFF"/>
                    </a:solidFill>
                  </a:tcPr>
                </a:tc>
                <a:tc>
                  <a:txBody>
                    <a:bodyPr/>
                    <a:lstStyle/>
                    <a:p>
                      <a:pPr algn="ctr">
                        <a:defRPr sz="1050">
                          <a:solidFill>
                            <a:srgbClr val="1E293B"/>
                          </a:solidFill>
                        </a:defRPr>
                      </a:pPr>
                      <a:r>
                        <a:t>0.8883</a:t>
                      </a:r>
                    </a:p>
                  </a:txBody>
                  <a:tcPr>
                    <a:solidFill>
                      <a:srgbClr val="FFFFFF"/>
                    </a:solidFill>
                  </a:tcPr>
                </a:tc>
                <a:tc>
                  <a:txBody>
                    <a:bodyPr/>
                    <a:lstStyle/>
                    <a:p>
                      <a:pPr algn="ctr">
                        <a:defRPr sz="1050">
                          <a:solidFill>
                            <a:srgbClr val="1E293B"/>
                          </a:solidFill>
                        </a:defRPr>
                      </a:pPr>
                      <a:r>
                        <a:t>$65,379.60</a:t>
                      </a:r>
                    </a:p>
                  </a:txBody>
                  <a:tcPr>
                    <a:solidFill>
                      <a:srgbClr val="FFFFFF"/>
                    </a:solidFill>
                  </a:tcPr>
                </a:tc>
                <a:tc>
                  <a:txBody>
                    <a:bodyPr/>
                    <a:lstStyle/>
                    <a:p>
                      <a:pPr algn="ctr">
                        <a:defRPr sz="1050">
                          <a:solidFill>
                            <a:srgbClr val="1E293B"/>
                          </a:solidFill>
                        </a:defRPr>
                      </a:pPr>
                      <a:r>
                        <a:t>$120,861.42</a:t>
                      </a:r>
                    </a:p>
                  </a:txBody>
                  <a:tcPr>
                    <a:solidFill>
                      <a:srgbClr val="FFFFFF"/>
                    </a:solidFill>
                  </a:tcPr>
                </a:tc>
                <a:tc>
                  <a:txBody>
                    <a:bodyPr/>
                    <a:lstStyle/>
                    <a:p>
                      <a:pPr algn="ctr">
                        <a:defRPr sz="1050">
                          <a:solidFill>
                            <a:srgbClr val="1E293B"/>
                          </a:solidFill>
                        </a:defRPr>
                      </a:pPr>
                      <a:r>
                        <a:t>12.26%</a:t>
                      </a:r>
                    </a:p>
                  </a:txBody>
                  <a:tcPr>
                    <a:solidFill>
                      <a:srgbClr val="FFFFFF"/>
                    </a:solidFill>
                  </a:tcPr>
                </a:tc>
                <a:tc>
                  <a:txBody>
                    <a:bodyPr/>
                    <a:lstStyle/>
                    <a:p>
                      <a:pPr algn="ctr">
                        <a:defRPr sz="1050">
                          <a:solidFill>
                            <a:srgbClr val="1E293B"/>
                          </a:solidFill>
                        </a:defRPr>
                      </a:pPr>
                      <a:r>
                        <a:t>$64,365.58</a:t>
                      </a:r>
                    </a:p>
                  </a:txBody>
                  <a:tcPr>
                    <a:solidFill>
                      <a:srgbClr val="FFFFFF"/>
                    </a:solidFill>
                  </a:tcPr>
                </a:tc>
              </a:tr>
            </a:tbl>
          </a:graphicData>
        </a:graphic>
      </p:graphicFrame>
      <p:sp>
        <p:nvSpPr>
          <p:cNvPr id="5" name="Rounded Rectangle 4"/>
          <p:cNvSpPr/>
          <p:nvPr/>
        </p:nvSpPr>
        <p:spPr>
          <a:xfrm>
            <a:off x="731520" y="4846320"/>
            <a:ext cx="10728655" cy="13716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937760"/>
            <a:ext cx="10332720" cy="1188720"/>
          </a:xfrm>
          <a:prstGeom prst="rect">
            <a:avLst/>
          </a:prstGeom>
          <a:noFill/>
        </p:spPr>
        <p:txBody>
          <a:bodyPr wrap="square">
            <a:spAutoFit/>
          </a:bodyPr>
          <a:lstStyle/>
          <a:p>
            <a:pPr>
              <a:defRPr b="1" sz="1300">
                <a:solidFill>
                  <a:srgbClr val="10B981"/>
                </a:solidFill>
              </a:defRPr>
            </a:pPr>
            <a:r>
              <a:t>Key Takeaway: Specification Benchmark Fully Met</a:t>
            </a:r>
          </a:p>
          <a:p>
            <a:pPr>
              <a:defRPr sz="1100">
                <a:solidFill>
                  <a:srgbClr val="1E293B"/>
                </a:solidFill>
              </a:defRPr>
            </a:pPr>
            <a:r>
              <a:t>The Random Forest model achieves Test R² = 0.8724 and Test Log R² = 0.8979, comfortably exceeding the 0.80 benchmark. Test MAE is $67,108.53 with 12.26% MAPE. CV scores closely match test metrics, demonstrating zero over-fitting.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950" b="1">
                <a:solidFill>
                  <a:srgbClr val="0284C7"/>
                </a:solidFill>
                <a:latin typeface="Arial"/>
              </a:defRPr>
            </a:pPr>
            <a:r>
              <a:t>MODEL DIAGNOSTICS</a:t>
            </a:r>
          </a:p>
        </p:txBody>
      </p:sp>
      <p:sp>
        <p:nvSpPr>
          <p:cNvPr id="3" name="TextBox 2"/>
          <p:cNvSpPr txBox="1"/>
          <p:nvPr/>
        </p:nvSpPr>
        <p:spPr>
          <a:xfrm>
            <a:off x="731520" y="640080"/>
            <a:ext cx="10515600" cy="548640"/>
          </a:xfrm>
          <a:prstGeom prst="rect">
            <a:avLst/>
          </a:prstGeom>
          <a:noFill/>
        </p:spPr>
        <p:txBody>
          <a:bodyPr wrap="square">
            <a:spAutoFit/>
          </a:bodyPr>
          <a:lstStyle/>
          <a:p>
            <a:pPr>
              <a:defRPr sz="2200" b="1">
                <a:solidFill>
                  <a:srgbClr val="0F172A"/>
                </a:solidFill>
                <a:latin typeface="Arial"/>
              </a:defRPr>
            </a:pPr>
            <a:r>
              <a:t>Diagnostic Evaluation &amp; Feature Importances</a:t>
            </a:r>
          </a:p>
        </p:txBody>
      </p:sp>
      <p:sp>
        <p:nvSpPr>
          <p:cNvPr id="4" name="Rounded Rectangle 3"/>
          <p:cNvSpPr/>
          <p:nvPr/>
        </p:nvSpPr>
        <p:spPr>
          <a:xfrm>
            <a:off x="731520" y="1463040"/>
            <a:ext cx="512064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edicted_vs_actual.png"/>
          <p:cNvPicPr>
            <a:picLocks noChangeAspect="1"/>
          </p:cNvPicPr>
          <p:nvPr/>
        </p:nvPicPr>
        <p:blipFill>
          <a:blip r:embed="rId2"/>
          <a:stretch>
            <a:fillRect/>
          </a:stretch>
        </p:blipFill>
        <p:spPr>
          <a:xfrm>
            <a:off x="822960" y="1600200"/>
            <a:ext cx="4937760" cy="3703320"/>
          </a:xfrm>
          <a:prstGeom prst="rect">
            <a:avLst/>
          </a:prstGeom>
        </p:spPr>
      </p:pic>
      <p:sp>
        <p:nvSpPr>
          <p:cNvPr id="6" name="Rounded Rectangle 5"/>
          <p:cNvSpPr/>
          <p:nvPr/>
        </p:nvSpPr>
        <p:spPr>
          <a:xfrm>
            <a:off x="6217920" y="1463040"/>
            <a:ext cx="52120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eature_importances_rf.png"/>
          <p:cNvPicPr>
            <a:picLocks noChangeAspect="1"/>
          </p:cNvPicPr>
          <p:nvPr/>
        </p:nvPicPr>
        <p:blipFill>
          <a:blip r:embed="rId3"/>
          <a:stretch>
            <a:fillRect/>
          </a:stretch>
        </p:blipFill>
        <p:spPr>
          <a:xfrm>
            <a:off x="6309360" y="1600200"/>
            <a:ext cx="5029200" cy="35204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950" b="1">
                <a:solidFill>
                  <a:srgbClr val="0284C7"/>
                </a:solidFill>
                <a:latin typeface="Arial"/>
              </a:defRPr>
            </a:pPr>
            <a:r>
              <a:t>SYSTEM DESIGN</a:t>
            </a:r>
          </a:p>
        </p:txBody>
      </p:sp>
      <p:sp>
        <p:nvSpPr>
          <p:cNvPr id="3" name="TextBox 2"/>
          <p:cNvSpPr txBox="1"/>
          <p:nvPr/>
        </p:nvSpPr>
        <p:spPr>
          <a:xfrm>
            <a:off x="731520" y="640080"/>
            <a:ext cx="10515600" cy="548640"/>
          </a:xfrm>
          <a:prstGeom prst="rect">
            <a:avLst/>
          </a:prstGeom>
          <a:noFill/>
        </p:spPr>
        <p:txBody>
          <a:bodyPr wrap="square">
            <a:spAutoFit/>
          </a:bodyPr>
          <a:lstStyle/>
          <a:p>
            <a:pPr>
              <a:defRPr sz="2200" b="1">
                <a:solidFill>
                  <a:srgbClr val="0F172A"/>
                </a:solidFill>
                <a:latin typeface="Arial"/>
              </a:defRPr>
            </a:pPr>
            <a:r>
              <a:t>System Architecture: End-to-End Production Flow</a:t>
            </a:r>
          </a:p>
        </p:txBody>
      </p:sp>
      <p:sp>
        <p:nvSpPr>
          <p:cNvPr id="4" name="Rounded Rectangle 3"/>
          <p:cNvSpPr/>
          <p:nvPr/>
        </p:nvSpPr>
        <p:spPr>
          <a:xfrm>
            <a:off x="731520" y="1463040"/>
            <a:ext cx="10728655"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ystem_architecture.png"/>
          <p:cNvPicPr>
            <a:picLocks noChangeAspect="1"/>
          </p:cNvPicPr>
          <p:nvPr/>
        </p:nvPicPr>
        <p:blipFill>
          <a:blip r:embed="rId2"/>
          <a:stretch>
            <a:fillRect/>
          </a:stretch>
        </p:blipFill>
        <p:spPr>
          <a:xfrm>
            <a:off x="914400" y="1600200"/>
            <a:ext cx="10362895" cy="518144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950" b="1">
                <a:solidFill>
                  <a:srgbClr val="0284C7"/>
                </a:solidFill>
                <a:latin typeface="Arial"/>
              </a:defRPr>
            </a:pPr>
            <a:r>
              <a:t>LIVE DEMONSTRATION</a:t>
            </a:r>
          </a:p>
        </p:txBody>
      </p:sp>
      <p:sp>
        <p:nvSpPr>
          <p:cNvPr id="3" name="TextBox 2"/>
          <p:cNvSpPr txBox="1"/>
          <p:nvPr/>
        </p:nvSpPr>
        <p:spPr>
          <a:xfrm>
            <a:off x="731520" y="640080"/>
            <a:ext cx="10515600" cy="548640"/>
          </a:xfrm>
          <a:prstGeom prst="rect">
            <a:avLst/>
          </a:prstGeom>
          <a:noFill/>
        </p:spPr>
        <p:txBody>
          <a:bodyPr wrap="square">
            <a:spAutoFit/>
          </a:bodyPr>
          <a:lstStyle/>
          <a:p>
            <a:pPr>
              <a:defRPr sz="2200" b="1">
                <a:solidFill>
                  <a:srgbClr val="0F172A"/>
                </a:solidFill>
                <a:latin typeface="Arial"/>
              </a:defRPr>
            </a:pPr>
            <a:r>
              <a:t>Application Demo: Web Dashboard &amp; MongoDB Audit</a:t>
            </a:r>
          </a:p>
        </p:txBody>
      </p:sp>
      <p:sp>
        <p:nvSpPr>
          <p:cNvPr id="4" name="Rounded Rectangle 3"/>
          <p:cNvSpPr/>
          <p:nvPr/>
        </p:nvSpPr>
        <p:spPr>
          <a:xfrm>
            <a:off x="731520" y="1463040"/>
            <a:ext cx="10728655"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_demo_preview.png"/>
          <p:cNvPicPr>
            <a:picLocks noChangeAspect="1"/>
          </p:cNvPicPr>
          <p:nvPr/>
        </p:nvPicPr>
        <p:blipFill>
          <a:blip r:embed="rId2"/>
          <a:stretch>
            <a:fillRect/>
          </a:stretch>
        </p:blipFill>
        <p:spPr>
          <a:xfrm>
            <a:off x="1005840" y="1600200"/>
            <a:ext cx="10149840" cy="5665027"/>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950" b="1">
                <a:solidFill>
                  <a:srgbClr val="0284C7"/>
                </a:solidFill>
                <a:latin typeface="Arial"/>
              </a:defRPr>
            </a:pPr>
            <a:r>
              <a:t>ROADMAP</a:t>
            </a:r>
          </a:p>
        </p:txBody>
      </p:sp>
      <p:sp>
        <p:nvSpPr>
          <p:cNvPr id="3" name="TextBox 2"/>
          <p:cNvSpPr txBox="1"/>
          <p:nvPr/>
        </p:nvSpPr>
        <p:spPr>
          <a:xfrm>
            <a:off x="731520" y="640080"/>
            <a:ext cx="10515600" cy="548640"/>
          </a:xfrm>
          <a:prstGeom prst="rect">
            <a:avLst/>
          </a:prstGeom>
          <a:noFill/>
        </p:spPr>
        <p:txBody>
          <a:bodyPr wrap="square">
            <a:spAutoFit/>
          </a:bodyPr>
          <a:lstStyle/>
          <a:p>
            <a:pPr>
              <a:defRPr sz="2200" b="1">
                <a:solidFill>
                  <a:srgbClr val="0F172A"/>
                </a:solidFill>
                <a:latin typeface="Arial"/>
              </a:defRPr>
            </a:pPr>
            <a:r>
              <a:t>Limitations &amp; Engineering Roadmap</a:t>
            </a:r>
          </a:p>
        </p:txBody>
      </p:sp>
      <p:sp>
        <p:nvSpPr>
          <p:cNvPr id="4" name="Rounded Rectangle 3"/>
          <p:cNvSpPr/>
          <p:nvPr/>
        </p:nvSpPr>
        <p:spPr>
          <a:xfrm>
            <a:off x="731520" y="1463040"/>
            <a:ext cx="512064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389120"/>
          </a:xfrm>
          <a:prstGeom prst="rect">
            <a:avLst/>
          </a:prstGeom>
          <a:noFill/>
        </p:spPr>
        <p:txBody>
          <a:bodyPr wrap="square">
            <a:spAutoFit/>
          </a:bodyPr>
          <a:lstStyle/>
          <a:p>
            <a:pPr>
              <a:defRPr b="1" sz="1600">
                <a:solidFill>
                  <a:srgbClr val="0F172A"/>
                </a:solidFill>
              </a:defRPr>
            </a:pPr>
            <a:r>
              <a:t>Current Limitations</a:t>
            </a:r>
          </a:p>
          <a:p>
            <a:br/>
            <a:pPr>
              <a:defRPr sz="1200">
                <a:solidFill>
                  <a:srgbClr val="1E293B"/>
                </a:solidFill>
              </a:defRPr>
            </a:pPr>
            <a:r>
              <a:t>• Temporal Scope: Calibrated on 2014-2015 transactions; unadjusted for subsequent mortgage interest rate shifts or inflation.</a:t>
            </a:r>
            <a:br/>
            <a:br/>
            <a:r>
              <a:t>• Geographic Boundary: Strictly calibrated to King County, WA.</a:t>
            </a:r>
            <a:br/>
            <a:br/>
            <a:r>
              <a:t>• Missing Covariates: School district ratings, tax levies, and walkability scores are unobserved in the base dataset.</a:t>
            </a:r>
            <a:br/>
            <a:br/>
            <a:r>
              <a:t>• High-End Underestimation: Properties exceeding $2.5M exhibit variance due to rare luxury features.</a:t>
            </a:r>
          </a:p>
        </p:txBody>
      </p:sp>
      <p:sp>
        <p:nvSpPr>
          <p:cNvPr id="6" name="Rounded Rectangle 5"/>
          <p:cNvSpPr/>
          <p:nvPr/>
        </p:nvSpPr>
        <p:spPr>
          <a:xfrm>
            <a:off x="6217920" y="1463040"/>
            <a:ext cx="52120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389120"/>
          </a:xfrm>
          <a:prstGeom prst="rect">
            <a:avLst/>
          </a:prstGeom>
          <a:noFill/>
        </p:spPr>
        <p:txBody>
          <a:bodyPr wrap="square">
            <a:spAutoFit/>
          </a:bodyPr>
          <a:lstStyle/>
          <a:p>
            <a:pPr>
              <a:defRPr b="1" sz="1600">
                <a:solidFill>
                  <a:srgbClr val="0284C7"/>
                </a:solidFill>
              </a:defRPr>
            </a:pPr>
            <a:r>
              <a:t>Future Technical Roadmap</a:t>
            </a:r>
          </a:p>
          <a:p>
            <a:br/>
            <a:pPr>
              <a:defRPr sz="1200">
                <a:solidFill>
                  <a:srgbClr val="1E293B"/>
                </a:solidFill>
              </a:defRPr>
            </a:pPr>
            <a:r>
              <a:t>1. Spatial Kriging &amp; GNNs:</a:t>
            </a:r>
            <a:br/>
            <a:r>
              <a:t>   - Graph Neural Networks connecting neighboring properties.</a:t>
            </a:r>
            <a:br/>
            <a:br/>
            <a:r>
              <a:t>2. Real-Time MLS Integration:</a:t>
            </a:r>
            <a:br/>
            <a:r>
              <a:t>   - Streaming continuous RETS/RESO feeds for dynamic retraining.</a:t>
            </a:r>
            <a:br/>
            <a:br/>
            <a:r>
              <a:t>3. Multi-Modal Vision:</a:t>
            </a:r>
            <a:br/>
            <a:r>
              <a:t>   - Fine-tuned Vision Transformers assessing interior finishes from listing photos.</a:t>
            </a:r>
            <a:br/>
            <a:br/>
            <a:r>
              <a:t>4. Automated Drift Monitoring:</a:t>
            </a:r>
            <a:br/>
            <a:r>
              <a:t>   - Evidently AI / Prometheus integration for feature drift detection.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20040"/>
          </a:xfrm>
          <a:prstGeom prst="rect">
            <a:avLst/>
          </a:prstGeom>
          <a:noFill/>
        </p:spPr>
        <p:txBody>
          <a:bodyPr wrap="square">
            <a:spAutoFit/>
          </a:bodyPr>
          <a:lstStyle/>
          <a:p>
            <a:pPr>
              <a:defRPr sz="950" b="1">
                <a:solidFill>
                  <a:srgbClr val="0284C7"/>
                </a:solidFill>
                <a:latin typeface="Arial"/>
              </a:defRPr>
            </a:pPr>
            <a:r>
              <a:t>CONCLUSION</a:t>
            </a:r>
          </a:p>
        </p:txBody>
      </p:sp>
      <p:sp>
        <p:nvSpPr>
          <p:cNvPr id="3" name="TextBox 2"/>
          <p:cNvSpPr txBox="1"/>
          <p:nvPr/>
        </p:nvSpPr>
        <p:spPr>
          <a:xfrm>
            <a:off x="731520" y="640080"/>
            <a:ext cx="10515600" cy="548640"/>
          </a:xfrm>
          <a:prstGeom prst="rect">
            <a:avLst/>
          </a:prstGeom>
          <a:noFill/>
        </p:spPr>
        <p:txBody>
          <a:bodyPr wrap="square">
            <a:spAutoFit/>
          </a:bodyPr>
          <a:lstStyle/>
          <a:p>
            <a:pPr>
              <a:defRPr sz="2200" b="1">
                <a:solidFill>
                  <a:srgbClr val="0F172A"/>
                </a:solidFill>
                <a:latin typeface="Arial"/>
              </a:defRPr>
            </a:pPr>
            <a:r>
              <a:t>Summary &amp; Business Impact</a:t>
            </a:r>
          </a:p>
        </p:txBody>
      </p:sp>
      <p:sp>
        <p:nvSpPr>
          <p:cNvPr id="4" name="Rounded Rectangle 3"/>
          <p:cNvSpPr/>
          <p:nvPr/>
        </p:nvSpPr>
        <p:spPr>
          <a:xfrm>
            <a:off x="1097280" y="1463040"/>
            <a:ext cx="9997135"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1737360"/>
            <a:ext cx="9235440" cy="4206240"/>
          </a:xfrm>
          <a:prstGeom prst="rect">
            <a:avLst/>
          </a:prstGeom>
          <a:noFill/>
        </p:spPr>
        <p:txBody>
          <a:bodyPr wrap="square">
            <a:spAutoFit/>
          </a:bodyPr>
          <a:lstStyle/>
          <a:p>
            <a:pPr>
              <a:defRPr b="1" sz="2000">
                <a:solidFill>
                  <a:srgbClr val="0F172A"/>
                </a:solidFill>
              </a:defRPr>
            </a:pPr>
            <a:r>
              <a:t>Project Outcomes &amp; Deliverables</a:t>
            </a:r>
          </a:p>
          <a:p>
            <a:br/>
            <a:pPr>
              <a:defRPr sz="1300">
                <a:solidFill>
                  <a:srgbClr val="1E293B"/>
                </a:solidFill>
              </a:defRPr>
            </a:pPr>
            <a:r>
              <a:t>✓ High Predictive Accuracy: Tuned Random Forest achieved Test R² = 0.8724 (Log R² = 0.8979) and MAE = $67,108.53.</a:t>
            </a:r>
            <a:br/>
            <a:r>
              <a:t>✓ Disciplined Engineering: 100% leak-free pipelines, 0 silent drops, and full reproducibility.</a:t>
            </a:r>
            <a:br/>
            <a:r>
              <a:t>✓ Enterprise Architecture: FastAPI microservice integrated with MongoDB persistence and compound indexing.</a:t>
            </a:r>
            <a:br/>
            <a:r>
              <a:t>✓ Comprehensive Testing: 13/13 passing pytest unit and integration tests.</a:t>
            </a:r>
            <a:br/>
            <a:r>
              <a:t>✓ Complete Deliverables: Detailed Word report with PDF export, presentation deck, executed Jupyter notebooks, and clean modular code.</a:t>
            </a:r>
          </a:p>
          <a:p>
            <a:br/>
            <a:pPr>
              <a:spcBef>
                <a:spcPts val="1600"/>
              </a:spcBef>
              <a:defRPr sz="1400" b="1">
                <a:solidFill>
                  <a:srgbClr val="10B981"/>
                </a:solidFill>
              </a:defRPr>
            </a:pPr>
            <a:r>
              <a:t>Benchmark Target (R² &gt;= 0.80): EXCEEDED (0.8724)  •  Ready for Production Deployment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